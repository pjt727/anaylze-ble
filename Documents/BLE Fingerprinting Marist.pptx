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4"/>
  </p:notesMasterIdLst>
  <p:sldIdLst>
    <p:sldId id="256" r:id="rId2"/>
    <p:sldId id="265" r:id="rId3"/>
    <p:sldId id="258" r:id="rId4"/>
    <p:sldId id="259" r:id="rId5"/>
    <p:sldId id="266" r:id="rId6"/>
    <p:sldId id="267" r:id="rId7"/>
    <p:sldId id="268" r:id="rId8"/>
    <p:sldId id="260" r:id="rId9"/>
    <p:sldId id="261" r:id="rId10"/>
    <p:sldId id="264"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086FB-0DA1-E3C1-A959-F368C9431423}" v="190" dt="2024-03-29T01:17:55.871"/>
    <p1510:client id="{2DAC23BA-9502-4D81-851C-3E703FE33644}" v="2946" dt="2024-03-29T03:50:34.907"/>
    <p1510:client id="{3ABB83DB-E355-C272-23CC-26A554C163EB}" v="101" dt="2024-03-28T18:45:07.530"/>
    <p1510:client id="{ACEB9CB4-EE24-B441-7304-D21DFF4FF52D}" v="354" dt="2024-03-29T03:32:32.978"/>
    <p1510:client id="{AD3F9722-D03E-AEC5-1BED-F1F39CC13044}" v="161" dt="2024-03-28T21:01:01.751"/>
    <p1510:client id="{BCB7DBDF-D7CA-3CC2-91A9-81CECF303673}" v="636" dt="2024-03-29T00:38:43.5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373" autoAdjust="0"/>
  </p:normalViewPr>
  <p:slideViewPr>
    <p:cSldViewPr snapToGrid="0">
      <p:cViewPr varScale="1">
        <p:scale>
          <a:sx n="75" d="100"/>
          <a:sy n="75" d="100"/>
        </p:scale>
        <p:origin x="94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347B4-214D-4DBF-9551-2D30CC72A417}" type="datetimeFigureOut">
              <a:t>3/28/2024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6F6BB0-26D1-4327-BD59-82EC7466B586}" type="slidenum">
              <a:t>‹#›</a:t>
            </a:fld>
            <a:endParaRPr lang="en-US"/>
          </a:p>
        </p:txBody>
      </p:sp>
    </p:spTree>
    <p:extLst>
      <p:ext uri="{BB962C8B-B14F-4D97-AF65-F5344CB8AC3E}">
        <p14:creationId xmlns:p14="http://schemas.microsoft.com/office/powerpoint/2010/main" val="2207393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mn-lt"/>
            </a:endParaRPr>
          </a:p>
          <a:p>
            <a:br>
              <a:rPr lang="en-US">
                <a:ea typeface="Calibri"/>
                <a:cs typeface="+mn-lt"/>
              </a:rPr>
            </a:br>
            <a:endParaRPr lang="en-US">
              <a:ea typeface="Calibri"/>
              <a:cs typeface="Calibri"/>
            </a:endParaRPr>
          </a:p>
        </p:txBody>
      </p:sp>
      <p:sp>
        <p:nvSpPr>
          <p:cNvPr id="4" name="Slide Number Placeholder 3"/>
          <p:cNvSpPr>
            <a:spLocks noGrp="1"/>
          </p:cNvSpPr>
          <p:nvPr>
            <p:ph type="sldNum" sz="quarter" idx="5"/>
          </p:nvPr>
        </p:nvSpPr>
        <p:spPr/>
        <p:txBody>
          <a:bodyPr/>
          <a:lstStyle/>
          <a:p>
            <a:fld id="{896F6BB0-26D1-4327-BD59-82EC7466B586}" type="slidenum">
              <a:t>4</a:t>
            </a:fld>
            <a:endParaRPr lang="en-US"/>
          </a:p>
        </p:txBody>
      </p:sp>
    </p:spTree>
    <p:extLst>
      <p:ext uri="{BB962C8B-B14F-4D97-AF65-F5344CB8AC3E}">
        <p14:creationId xmlns:p14="http://schemas.microsoft.com/office/powerpoint/2010/main" val="4284317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previous semesters, our work first began with finding out what the actual work should look like. We needed to see what data could be gathered from BLE transmissions, and what we could identify based on that information. </a:t>
            </a:r>
            <a:br>
              <a:rPr lang="en-US"/>
            </a:br>
            <a:br>
              <a:rPr lang="en-US"/>
            </a:br>
            <a:r>
              <a:rPr lang="en-US"/>
              <a:t>Spring 2023 was devoted to conducting numerous scans utilizing different software and hardware, and deciding on what would provide the best results for future testing. We used kismet and </a:t>
            </a:r>
            <a:r>
              <a:rPr lang="en-US" err="1"/>
              <a:t>wireshark</a:t>
            </a:r>
            <a:r>
              <a:rPr lang="en-US"/>
              <a:t> to view data captured by an </a:t>
            </a:r>
            <a:r>
              <a:rPr lang="en-US" err="1"/>
              <a:t>ubertooth</a:t>
            </a:r>
            <a:r>
              <a:rPr lang="en-US"/>
              <a:t> dongle attached to a laptop</a:t>
            </a:r>
          </a:p>
          <a:p>
            <a:endParaRPr lang="en-US"/>
          </a:p>
          <a:p>
            <a:r>
              <a:rPr lang="en-US"/>
              <a:t>After we had a better idea on what we needed to complete, we were able to hone in on what tools could provide the best success. </a:t>
            </a:r>
          </a:p>
          <a:p>
            <a:endParaRPr lang="en-US">
              <a:cs typeface="Calibri"/>
            </a:endParaRPr>
          </a:p>
        </p:txBody>
      </p:sp>
      <p:sp>
        <p:nvSpPr>
          <p:cNvPr id="4" name="Slide Number Placeholder 3"/>
          <p:cNvSpPr>
            <a:spLocks noGrp="1"/>
          </p:cNvSpPr>
          <p:nvPr>
            <p:ph type="sldNum" sz="quarter" idx="5"/>
          </p:nvPr>
        </p:nvSpPr>
        <p:spPr/>
        <p:txBody>
          <a:bodyPr/>
          <a:lstStyle/>
          <a:p>
            <a:fld id="{896F6BB0-26D1-4327-BD59-82EC7466B586}" type="slidenum">
              <a:rPr lang="en-US"/>
              <a:t>5</a:t>
            </a:fld>
            <a:endParaRPr lang="en-US"/>
          </a:p>
        </p:txBody>
      </p:sp>
    </p:spTree>
    <p:extLst>
      <p:ext uri="{BB962C8B-B14F-4D97-AF65-F5344CB8AC3E}">
        <p14:creationId xmlns:p14="http://schemas.microsoft.com/office/powerpoint/2010/main" val="379579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Fall 2023, we had taken scans done in the previous semester, along with new ones, and began comparing packets and their contents. We found 2 notable attributes that could be used to narrow down the type of device. They included </a:t>
            </a:r>
            <a:r>
              <a:rPr lang="en-US" dirty="0" err="1"/>
              <a:t>rssi</a:t>
            </a:r>
            <a:r>
              <a:rPr lang="en-US" dirty="0"/>
              <a:t> and power level. RSSI helped us find out the proximity of the device, and power level indicates how much transmit power a device has, potentially indicating the type of device.</a:t>
            </a:r>
            <a:br>
              <a:rPr lang="en-US" dirty="0">
                <a:cs typeface="+mn-lt"/>
              </a:rPr>
            </a:br>
            <a:endParaRPr lang="en-US" dirty="0"/>
          </a:p>
        </p:txBody>
      </p:sp>
      <p:sp>
        <p:nvSpPr>
          <p:cNvPr id="4" name="Slide Number Placeholder 3"/>
          <p:cNvSpPr>
            <a:spLocks noGrp="1"/>
          </p:cNvSpPr>
          <p:nvPr>
            <p:ph type="sldNum" sz="quarter" idx="5"/>
          </p:nvPr>
        </p:nvSpPr>
        <p:spPr/>
        <p:txBody>
          <a:bodyPr/>
          <a:lstStyle/>
          <a:p>
            <a:fld id="{896F6BB0-26D1-4327-BD59-82EC7466B586}" type="slidenum">
              <a:rPr lang="en-US"/>
              <a:t>6</a:t>
            </a:fld>
            <a:endParaRPr lang="en-US"/>
          </a:p>
        </p:txBody>
      </p:sp>
    </p:spTree>
    <p:extLst>
      <p:ext uri="{BB962C8B-B14F-4D97-AF65-F5344CB8AC3E}">
        <p14:creationId xmlns:p14="http://schemas.microsoft.com/office/powerpoint/2010/main" val="15618981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related publications I have listed show the relevance of our work. </a:t>
            </a:r>
          </a:p>
        </p:txBody>
      </p:sp>
      <p:sp>
        <p:nvSpPr>
          <p:cNvPr id="4" name="Slide Number Placeholder 3"/>
          <p:cNvSpPr>
            <a:spLocks noGrp="1"/>
          </p:cNvSpPr>
          <p:nvPr>
            <p:ph type="sldNum" sz="quarter" idx="5"/>
          </p:nvPr>
        </p:nvSpPr>
        <p:spPr/>
        <p:txBody>
          <a:bodyPr/>
          <a:lstStyle/>
          <a:p>
            <a:fld id="{896F6BB0-26D1-4327-BD59-82EC7466B586}" type="slidenum">
              <a:rPr lang="en-US"/>
              <a:t>7</a:t>
            </a:fld>
            <a:endParaRPr lang="en-US"/>
          </a:p>
        </p:txBody>
      </p:sp>
    </p:spTree>
    <p:extLst>
      <p:ext uri="{BB962C8B-B14F-4D97-AF65-F5344CB8AC3E}">
        <p14:creationId xmlns:p14="http://schemas.microsoft.com/office/powerpoint/2010/main" val="4285027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Used </a:t>
            </a:r>
            <a:r>
              <a:rPr lang="en-US" err="1"/>
              <a:t>ubertooth</a:t>
            </a:r>
            <a:r>
              <a:rPr lang="en-US"/>
              <a:t> first, but this needs VM and collects less detailed data</a:t>
            </a:r>
          </a:p>
          <a:p>
            <a:r>
              <a:rPr lang="en-US"/>
              <a:t>Isolation is needed due to high traffic and observing change</a:t>
            </a:r>
          </a:p>
          <a:p>
            <a:r>
              <a:rPr lang="en-US"/>
              <a:t>Nordic can artificially isolate</a:t>
            </a:r>
          </a:p>
          <a:p>
            <a:r>
              <a:rPr lang="en-US"/>
              <a:t>With these captures we can see when devices change, how often, broadcast tendencies, </a:t>
            </a:r>
            <a:r>
              <a:rPr lang="en-US" err="1"/>
              <a:t>etc</a:t>
            </a:r>
            <a:endParaRPr lang="en-US"/>
          </a:p>
        </p:txBody>
      </p:sp>
      <p:sp>
        <p:nvSpPr>
          <p:cNvPr id="4" name="Slide Number Placeholder 3"/>
          <p:cNvSpPr>
            <a:spLocks noGrp="1"/>
          </p:cNvSpPr>
          <p:nvPr>
            <p:ph type="sldNum" sz="quarter" idx="5"/>
          </p:nvPr>
        </p:nvSpPr>
        <p:spPr/>
        <p:txBody>
          <a:bodyPr/>
          <a:lstStyle/>
          <a:p>
            <a:fld id="{896F6BB0-26D1-4327-BD59-82EC7466B586}" type="slidenum">
              <a:rPr lang="en-US" smtClean="0"/>
              <a:t>8</a:t>
            </a:fld>
            <a:endParaRPr lang="en-US"/>
          </a:p>
        </p:txBody>
      </p:sp>
    </p:spTree>
    <p:extLst>
      <p:ext uri="{BB962C8B-B14F-4D97-AF65-F5344CB8AC3E}">
        <p14:creationId xmlns:p14="http://schemas.microsoft.com/office/powerpoint/2010/main" val="1996537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Company ID is similar to OUID. </a:t>
            </a:r>
          </a:p>
        </p:txBody>
      </p:sp>
      <p:sp>
        <p:nvSpPr>
          <p:cNvPr id="4" name="Slide Number Placeholder 3"/>
          <p:cNvSpPr>
            <a:spLocks noGrp="1"/>
          </p:cNvSpPr>
          <p:nvPr>
            <p:ph type="sldNum" sz="quarter" idx="5"/>
          </p:nvPr>
        </p:nvSpPr>
        <p:spPr/>
        <p:txBody>
          <a:bodyPr/>
          <a:lstStyle/>
          <a:p>
            <a:fld id="{896F6BB0-26D1-4327-BD59-82EC7466B586}" type="slidenum">
              <a:rPr lang="en-US" smtClean="0"/>
              <a:t>9</a:t>
            </a:fld>
            <a:endParaRPr lang="en-US"/>
          </a:p>
        </p:txBody>
      </p:sp>
    </p:spTree>
    <p:extLst>
      <p:ext uri="{BB962C8B-B14F-4D97-AF65-F5344CB8AC3E}">
        <p14:creationId xmlns:p14="http://schemas.microsoft.com/office/powerpoint/2010/main" val="3043109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Discuss capture sizes, why we had to go remote: everything has BLE!</a:t>
            </a:r>
          </a:p>
          <a:p>
            <a:r>
              <a:rPr lang="en-US"/>
              <a:t>Once we went remote: </a:t>
            </a:r>
            <a:r>
              <a:rPr lang="en-US" err="1"/>
              <a:t>ble</a:t>
            </a:r>
            <a:r>
              <a:rPr lang="en-US"/>
              <a:t> dongles suck power, its cold, VM with </a:t>
            </a:r>
            <a:r>
              <a:rPr lang="en-US" err="1"/>
              <a:t>ubertooth</a:t>
            </a:r>
            <a:endParaRPr lang="en-US"/>
          </a:p>
          <a:p>
            <a:r>
              <a:rPr lang="en-US"/>
              <a:t>Apache </a:t>
            </a:r>
            <a:r>
              <a:rPr lang="en-US" err="1"/>
              <a:t>avro</a:t>
            </a:r>
            <a:r>
              <a:rPr lang="en-US"/>
              <a:t> is serialized (converts data to objects such as </a:t>
            </a:r>
            <a:r>
              <a:rPr lang="en-US" err="1"/>
              <a:t>avro’s</a:t>
            </a:r>
            <a:r>
              <a:rPr lang="en-US"/>
              <a:t> custom binary format that is easy to store) and it’s encoding is compact, taking up less space. </a:t>
            </a:r>
          </a:p>
          <a:p>
            <a:r>
              <a:rPr lang="en-US"/>
              <a:t>Can load </a:t>
            </a:r>
            <a:r>
              <a:rPr lang="en-US" err="1"/>
              <a:t>avro</a:t>
            </a:r>
            <a:r>
              <a:rPr lang="en-US"/>
              <a:t> data in chunks instead of whole file.</a:t>
            </a:r>
          </a:p>
          <a:p>
            <a:r>
              <a:rPr lang="en-US"/>
              <a:t>Avro uses custom schemas.</a:t>
            </a:r>
          </a:p>
          <a:p>
            <a:r>
              <a:rPr lang="en-US"/>
              <a:t>Avro is interoperable so any code we write can interact with our data</a:t>
            </a:r>
          </a:p>
          <a:p>
            <a:endParaRPr lang="en-US"/>
          </a:p>
        </p:txBody>
      </p:sp>
      <p:sp>
        <p:nvSpPr>
          <p:cNvPr id="4" name="Slide Number Placeholder 3"/>
          <p:cNvSpPr>
            <a:spLocks noGrp="1"/>
          </p:cNvSpPr>
          <p:nvPr>
            <p:ph type="sldNum" sz="quarter" idx="5"/>
          </p:nvPr>
        </p:nvSpPr>
        <p:spPr/>
        <p:txBody>
          <a:bodyPr/>
          <a:lstStyle/>
          <a:p>
            <a:fld id="{896F6BB0-26D1-4327-BD59-82EC7466B586}" type="slidenum">
              <a:rPr lang="en-US" smtClean="0"/>
              <a:t>11</a:t>
            </a:fld>
            <a:endParaRPr lang="en-US"/>
          </a:p>
        </p:txBody>
      </p:sp>
    </p:spTree>
    <p:extLst>
      <p:ext uri="{BB962C8B-B14F-4D97-AF65-F5344CB8AC3E}">
        <p14:creationId xmlns:p14="http://schemas.microsoft.com/office/powerpoint/2010/main" val="28921008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96F6BB0-26D1-4327-BD59-82EC7466B586}" type="slidenum">
              <a:rPr lang="en-US" smtClean="0"/>
              <a:t>12</a:t>
            </a:fld>
            <a:endParaRPr lang="en-US"/>
          </a:p>
        </p:txBody>
      </p:sp>
    </p:spTree>
    <p:extLst>
      <p:ext uri="{BB962C8B-B14F-4D97-AF65-F5344CB8AC3E}">
        <p14:creationId xmlns:p14="http://schemas.microsoft.com/office/powerpoint/2010/main" val="29867791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dirty="0"/>
              <a:t>3/28/2024</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200180240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2FF5DD9-2C52-442D-92E2-8072C0C3D7CD}" type="datetimeFigureOut">
              <a:rPr lang="en-US" dirty="0"/>
              <a:t>3/28/2024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38143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dirty="0"/>
              <a:t>3/28/2024</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23826743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BD3D6FB-79CC-4683-A046-BBE785BA1BED}" type="datetimeFigureOut">
              <a:rPr lang="en-US" dirty="0"/>
              <a:t>3/28/2024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020882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512B3E8-48F1-4B23-8498-D8A04A81EC9C}" type="datetimeFigureOut">
              <a:rPr lang="en-US" dirty="0"/>
              <a:t>3/28/2024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599205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0B90D90-AA62-404D-A741-635B4370F9CB}" type="datetimeFigureOut">
              <a:rPr lang="en-US" dirty="0"/>
              <a:t>3/28/2024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946953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3/28/2024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093325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CF131DD-A141-4471-BCF9-C6073EDD7E20}" type="datetimeFigureOut">
              <a:rPr lang="en-US" dirty="0"/>
              <a:t>3/28/2024</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67003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3/28/2024</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95636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1A6AA8-A04B-4104-9AE2-BD48D340E27F}" type="datetimeFigureOut">
              <a:rPr lang="en-US" dirty="0"/>
              <a:t>3/28/2024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983436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4E0BF79-FAC6-4A96-8DE1-F7B82E2E1652}" type="datetimeFigureOut">
              <a:rPr lang="en-US" dirty="0"/>
              <a:t>3/28/2024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306959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t>3/28/2024</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49802166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s://www.pure.ed.ac.uk/ws/files/57325559/imwut18.pdf"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www.champlain.edu/Documents/LCDI/2018%20-%20Bluetooth%20Tracking%20Report.pdf%E2%80%8B" TargetMode="External"/><Relationship Id="rId4" Type="http://schemas.openxmlformats.org/officeDocument/2006/relationships/hyperlink" Target="https://www.usenix.org/system/files/sec20-zhang-yue.pdf"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Sphere of mesh and nodes">
            <a:extLst>
              <a:ext uri="{FF2B5EF4-FFF2-40B4-BE49-F238E27FC236}">
                <a16:creationId xmlns:a16="http://schemas.microsoft.com/office/drawing/2014/main" id="{B9648CDC-0C6A-7A95-4D8B-7D6183D5C9CF}"/>
              </a:ext>
            </a:extLst>
          </p:cNvPr>
          <p:cNvPicPr>
            <a:picLocks noChangeAspect="1"/>
          </p:cNvPicPr>
          <p:nvPr/>
        </p:nvPicPr>
        <p:blipFill rotWithShape="1">
          <a:blip r:embed="rId2"/>
          <a:srcRect t="1566" b="23434"/>
          <a:stretch/>
        </p:blipFill>
        <p:spPr>
          <a:xfrm>
            <a:off x="-4" y="10"/>
            <a:ext cx="12192000" cy="6857990"/>
          </a:xfrm>
          <a:prstGeom prst="rect">
            <a:avLst/>
          </a:prstGeom>
        </p:spPr>
      </p:pic>
      <p:sp>
        <p:nvSpPr>
          <p:cNvPr id="2" name="Title 1"/>
          <p:cNvSpPr>
            <a:spLocks noGrp="1"/>
          </p:cNvSpPr>
          <p:nvPr>
            <p:ph type="ctrTitle"/>
          </p:nvPr>
        </p:nvSpPr>
        <p:spPr>
          <a:xfrm>
            <a:off x="214365" y="2100170"/>
            <a:ext cx="6172200" cy="2400300"/>
          </a:xfrm>
        </p:spPr>
        <p:txBody>
          <a:bodyPr>
            <a:noAutofit/>
          </a:bodyPr>
          <a:lstStyle/>
          <a:p>
            <a:r>
              <a:rPr lang="en-US" sz="4800">
                <a:solidFill>
                  <a:schemeClr val="bg1"/>
                </a:solidFill>
                <a:highlight>
                  <a:srgbClr val="000000"/>
                </a:highlight>
              </a:rPr>
              <a:t>Bluetooth LE fingerprinting</a:t>
            </a:r>
          </a:p>
        </p:txBody>
      </p:sp>
      <p:sp>
        <p:nvSpPr>
          <p:cNvPr id="3" name="Subtitle 2"/>
          <p:cNvSpPr>
            <a:spLocks noGrp="1"/>
          </p:cNvSpPr>
          <p:nvPr>
            <p:ph type="subTitle" idx="1"/>
          </p:nvPr>
        </p:nvSpPr>
        <p:spPr>
          <a:xfrm>
            <a:off x="-1329597" y="4500470"/>
            <a:ext cx="7135034" cy="1382723"/>
          </a:xfrm>
        </p:spPr>
        <p:txBody>
          <a:bodyPr vert="horz" lIns="91440" tIns="45720" rIns="91440" bIns="45720" rtlCol="0" anchor="t">
            <a:noAutofit/>
          </a:bodyPr>
          <a:lstStyle/>
          <a:p>
            <a:r>
              <a:rPr lang="en-US" sz="2600">
                <a:solidFill>
                  <a:srgbClr val="FFFFFF"/>
                </a:solidFill>
              </a:rPr>
              <a:t>McCullough, Lukas</a:t>
            </a:r>
            <a:endParaRPr lang="en-US" sz="2600"/>
          </a:p>
          <a:p>
            <a:r>
              <a:rPr lang="en-US" sz="2600">
                <a:solidFill>
                  <a:srgbClr val="FFFFFF"/>
                </a:solidFill>
              </a:rPr>
              <a:t>Munger, Ryan</a:t>
            </a:r>
            <a:endParaRPr lang="en-US" sz="2600">
              <a:solidFill>
                <a:srgbClr val="000000"/>
              </a:solidFill>
            </a:endParaRPr>
          </a:p>
          <a:p>
            <a:r>
              <a:rPr lang="en-US" sz="2600">
                <a:solidFill>
                  <a:srgbClr val="FFFFFF"/>
                </a:solidFill>
              </a:rPr>
              <a:t>Tyler, Patrick</a:t>
            </a:r>
            <a:endParaRPr lang="en-US" sz="2600">
              <a:solidFill>
                <a:srgbClr val="000000"/>
              </a:solidFill>
            </a:endParaRPr>
          </a:p>
          <a:p>
            <a:r>
              <a:rPr lang="en-US" sz="2600">
                <a:solidFill>
                  <a:srgbClr val="FFFFFF"/>
                </a:solidFill>
              </a:rPr>
              <a:t>Foti, Dominick</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6CA3C-C696-CCFB-48B1-1B8213A301F3}"/>
              </a:ext>
            </a:extLst>
          </p:cNvPr>
          <p:cNvSpPr>
            <a:spLocks noGrp="1"/>
          </p:cNvSpPr>
          <p:nvPr>
            <p:ph type="title"/>
          </p:nvPr>
        </p:nvSpPr>
        <p:spPr/>
        <p:txBody>
          <a:bodyPr/>
          <a:lstStyle/>
          <a:p>
            <a:r>
              <a:rPr lang="en-US"/>
              <a:t>Table of Contents</a:t>
            </a:r>
          </a:p>
        </p:txBody>
      </p:sp>
      <p:sp>
        <p:nvSpPr>
          <p:cNvPr id="3" name="Content Placeholder 2">
            <a:extLst>
              <a:ext uri="{FF2B5EF4-FFF2-40B4-BE49-F238E27FC236}">
                <a16:creationId xmlns:a16="http://schemas.microsoft.com/office/drawing/2014/main" id="{594408E7-0010-1B4B-894D-F6C1BCEA04D9}"/>
              </a:ext>
            </a:extLst>
          </p:cNvPr>
          <p:cNvSpPr>
            <a:spLocks noGrp="1"/>
          </p:cNvSpPr>
          <p:nvPr>
            <p:ph idx="1"/>
          </p:nvPr>
        </p:nvSpPr>
        <p:spPr/>
        <p:txBody>
          <a:bodyPr/>
          <a:lstStyle/>
          <a:p>
            <a:pPr marL="342900" indent="-342900">
              <a:lnSpc>
                <a:spcPct val="150000"/>
              </a:lnSpc>
              <a:buFont typeface="+mj-lt"/>
              <a:buAutoNum type="arabicPeriod"/>
            </a:pPr>
            <a:r>
              <a:rPr lang="en-US"/>
              <a:t>What is Bluetooth Low Energy?</a:t>
            </a:r>
          </a:p>
          <a:p>
            <a:pPr marL="342900" indent="-342900">
              <a:lnSpc>
                <a:spcPct val="150000"/>
              </a:lnSpc>
              <a:buFont typeface="+mj-lt"/>
              <a:buAutoNum type="arabicPeriod"/>
            </a:pPr>
            <a:r>
              <a:rPr lang="en-US"/>
              <a:t>Background/Previous Publications</a:t>
            </a:r>
          </a:p>
          <a:p>
            <a:pPr marL="342900" indent="-342900">
              <a:lnSpc>
                <a:spcPct val="150000"/>
              </a:lnSpc>
              <a:buFont typeface="+mj-lt"/>
              <a:buAutoNum type="arabicPeriod"/>
            </a:pPr>
            <a:r>
              <a:rPr lang="en-US"/>
              <a:t>Data Collection</a:t>
            </a:r>
          </a:p>
          <a:p>
            <a:pPr marL="342900" indent="-342900">
              <a:lnSpc>
                <a:spcPct val="150000"/>
              </a:lnSpc>
              <a:buFont typeface="+mj-lt"/>
              <a:buAutoNum type="arabicPeriod"/>
            </a:pPr>
            <a:r>
              <a:rPr lang="en-US"/>
              <a:t>Data Analysis </a:t>
            </a:r>
          </a:p>
          <a:p>
            <a:pPr marL="342900" indent="-342900">
              <a:lnSpc>
                <a:spcPct val="150000"/>
              </a:lnSpc>
              <a:buFont typeface="+mj-lt"/>
              <a:buAutoNum type="arabicPeriod"/>
            </a:pPr>
            <a:r>
              <a:rPr lang="en-US"/>
              <a:t>Findings</a:t>
            </a:r>
          </a:p>
          <a:p>
            <a:pPr marL="342900" indent="-342900">
              <a:lnSpc>
                <a:spcPct val="150000"/>
              </a:lnSpc>
              <a:buFont typeface="+mj-lt"/>
              <a:buAutoNum type="arabicPeriod"/>
            </a:pPr>
            <a:r>
              <a:rPr lang="en-US"/>
              <a:t>Challenges</a:t>
            </a:r>
          </a:p>
          <a:p>
            <a:pPr marL="342900" indent="-342900">
              <a:lnSpc>
                <a:spcPct val="150000"/>
              </a:lnSpc>
              <a:buFont typeface="+mj-lt"/>
              <a:buAutoNum type="arabicPeriod"/>
            </a:pPr>
            <a:r>
              <a:rPr lang="en-US"/>
              <a:t>Next Steps</a:t>
            </a:r>
          </a:p>
        </p:txBody>
      </p:sp>
    </p:spTree>
    <p:extLst>
      <p:ext uri="{BB962C8B-B14F-4D97-AF65-F5344CB8AC3E}">
        <p14:creationId xmlns:p14="http://schemas.microsoft.com/office/powerpoint/2010/main" val="2008829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F2332-1BA0-0EEF-4715-FDE532208B7C}"/>
              </a:ext>
            </a:extLst>
          </p:cNvPr>
          <p:cNvSpPr>
            <a:spLocks noGrp="1"/>
          </p:cNvSpPr>
          <p:nvPr>
            <p:ph type="title"/>
          </p:nvPr>
        </p:nvSpPr>
        <p:spPr/>
        <p:txBody>
          <a:bodyPr/>
          <a:lstStyle/>
          <a:p>
            <a:r>
              <a:rPr lang="en-US" dirty="0"/>
              <a:t>Bluetooth Low Energy, What is it?</a:t>
            </a:r>
          </a:p>
        </p:txBody>
      </p:sp>
      <p:sp>
        <p:nvSpPr>
          <p:cNvPr id="3" name="Content Placeholder 2">
            <a:extLst>
              <a:ext uri="{FF2B5EF4-FFF2-40B4-BE49-F238E27FC236}">
                <a16:creationId xmlns:a16="http://schemas.microsoft.com/office/drawing/2014/main" id="{EFEBF286-05CE-8C26-41CC-6A30274ED96A}"/>
              </a:ext>
            </a:extLst>
          </p:cNvPr>
          <p:cNvSpPr>
            <a:spLocks noGrp="1"/>
          </p:cNvSpPr>
          <p:nvPr>
            <p:ph idx="1"/>
          </p:nvPr>
        </p:nvSpPr>
        <p:spPr>
          <a:xfrm>
            <a:off x="993057" y="2103120"/>
            <a:ext cx="10550013" cy="3931920"/>
          </a:xfrm>
        </p:spPr>
        <p:txBody>
          <a:bodyPr vert="horz" lIns="91440" tIns="45720" rIns="91440" bIns="45720" rtlCol="0" anchor="t">
            <a:normAutofit/>
          </a:bodyPr>
          <a:lstStyle/>
          <a:p>
            <a:r>
              <a:rPr lang="en-US" sz="2000" dirty="0"/>
              <a:t>Wireless Personal Area Network Technology made by the Bluetooth Special Interest Group</a:t>
            </a:r>
          </a:p>
          <a:p>
            <a:pPr>
              <a:buClr>
                <a:srgbClr val="262626"/>
              </a:buClr>
            </a:pPr>
            <a:r>
              <a:rPr lang="en-US" sz="2000" dirty="0"/>
              <a:t>Features:</a:t>
            </a:r>
          </a:p>
          <a:p>
            <a:pPr lvl="1">
              <a:buClr>
                <a:srgbClr val="262626"/>
              </a:buClr>
              <a:buFont typeface="Courier New,monospace" pitchFamily="18" charset="0"/>
              <a:buChar char="o"/>
            </a:pPr>
            <a:r>
              <a:rPr lang="en-US" sz="1800" dirty="0">
                <a:cs typeface="Arial"/>
              </a:rPr>
              <a:t>Low power consumption</a:t>
            </a:r>
          </a:p>
          <a:p>
            <a:pPr lvl="1">
              <a:buClr>
                <a:srgbClr val="262626"/>
              </a:buClr>
              <a:buFont typeface="Courier New,monospace" pitchFamily="18" charset="0"/>
              <a:buChar char="o"/>
            </a:pPr>
            <a:r>
              <a:rPr lang="en-US" sz="1800" dirty="0">
                <a:cs typeface="Arial"/>
              </a:rPr>
              <a:t>Compatibility</a:t>
            </a:r>
          </a:p>
          <a:p>
            <a:pPr lvl="1">
              <a:buClr>
                <a:srgbClr val="262626"/>
              </a:buClr>
              <a:buFont typeface="Courier New,monospace" pitchFamily="18" charset="0"/>
              <a:buChar char="o"/>
            </a:pPr>
            <a:r>
              <a:rPr lang="en-US" sz="1800" dirty="0">
                <a:cs typeface="Arial"/>
              </a:rPr>
              <a:t>Long range</a:t>
            </a:r>
            <a:endParaRPr lang="en-US" sz="1800" dirty="0"/>
          </a:p>
          <a:p>
            <a:pPr>
              <a:buClr>
                <a:srgbClr val="262626"/>
              </a:buClr>
            </a:pPr>
            <a:r>
              <a:rPr lang="en-US" sz="2000" dirty="0"/>
              <a:t>Common devices that utilize BLE technology</a:t>
            </a:r>
          </a:p>
          <a:p>
            <a:pPr lvl="1">
              <a:buClr>
                <a:srgbClr val="262626"/>
              </a:buClr>
              <a:buFont typeface="Courier New" pitchFamily="18" charset="0"/>
              <a:buChar char="o"/>
            </a:pPr>
            <a:r>
              <a:rPr lang="en-US" sz="1800" dirty="0"/>
              <a:t>Wireless earbuds </a:t>
            </a:r>
          </a:p>
          <a:p>
            <a:pPr lvl="1">
              <a:buClr>
                <a:srgbClr val="262626"/>
              </a:buClr>
              <a:buFont typeface="Courier New" pitchFamily="18" charset="0"/>
              <a:buChar char="o"/>
            </a:pPr>
            <a:r>
              <a:rPr lang="en-US" sz="1800" dirty="0"/>
              <a:t>Pacemakers</a:t>
            </a:r>
          </a:p>
          <a:p>
            <a:pPr lvl="1">
              <a:buClr>
                <a:srgbClr val="262626"/>
              </a:buClr>
              <a:buFont typeface="Courier New" pitchFamily="18" charset="0"/>
              <a:buChar char="o"/>
            </a:pPr>
            <a:r>
              <a:rPr lang="en-US" sz="1800" dirty="0"/>
              <a:t>Tire pressure sensors</a:t>
            </a:r>
          </a:p>
          <a:p>
            <a:pPr lvl="1">
              <a:buClr>
                <a:srgbClr val="262626"/>
              </a:buClr>
              <a:buFont typeface="Courier New" pitchFamily="18" charset="0"/>
              <a:buChar char="o"/>
            </a:pPr>
            <a:r>
              <a:rPr lang="en-US" sz="1800" dirty="0"/>
              <a:t>Smartwatches</a:t>
            </a:r>
          </a:p>
          <a:p>
            <a:pPr lvl="1">
              <a:buClr>
                <a:srgbClr val="262626"/>
              </a:buClr>
              <a:buFont typeface="Courier New" pitchFamily="18" charset="0"/>
              <a:buChar char="o"/>
            </a:pPr>
            <a:endParaRPr lang="en-US" sz="1800" dirty="0"/>
          </a:p>
        </p:txBody>
      </p:sp>
      <p:pic>
        <p:nvPicPr>
          <p:cNvPr id="1026" name="Picture 2" descr="embetronicx.com/wp-content/uploads/2017/07/Bluetoo...">
            <a:extLst>
              <a:ext uri="{FF2B5EF4-FFF2-40B4-BE49-F238E27FC236}">
                <a16:creationId xmlns:a16="http://schemas.microsoft.com/office/drawing/2014/main" id="{6F4C77DE-8B9E-171B-5558-A435D4D6947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42902" y="2723535"/>
            <a:ext cx="3800168" cy="3800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7440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C8DCBC9-E0DE-46B3-8FAE-C5C151378E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7744" y="237744"/>
            <a:ext cx="7665285"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A896C2B-C984-74CD-2775-325F9FD03762}"/>
              </a:ext>
            </a:extLst>
          </p:cNvPr>
          <p:cNvSpPr>
            <a:spLocks noGrp="1"/>
          </p:cNvSpPr>
          <p:nvPr>
            <p:ph type="title"/>
          </p:nvPr>
        </p:nvSpPr>
        <p:spPr>
          <a:xfrm>
            <a:off x="2368965" y="2863567"/>
            <a:ext cx="7454070" cy="1130866"/>
          </a:xfrm>
        </p:spPr>
        <p:txBody>
          <a:bodyPr>
            <a:normAutofit fontScale="90000"/>
          </a:bodyPr>
          <a:lstStyle/>
          <a:p>
            <a:r>
              <a:rPr lang="en-US" sz="4400" dirty="0"/>
              <a:t>Previous Work &amp; Publications</a:t>
            </a:r>
          </a:p>
        </p:txBody>
      </p:sp>
    </p:spTree>
    <p:extLst>
      <p:ext uri="{BB962C8B-B14F-4D97-AF65-F5344CB8AC3E}">
        <p14:creationId xmlns:p14="http://schemas.microsoft.com/office/powerpoint/2010/main" val="2576577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2C8DCBC9-E0DE-46B3-8FAE-C5C151378E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7744" y="237744"/>
            <a:ext cx="7665285"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7A4EA7B-64B9-0111-7C53-A33DCC8BE5C8}"/>
              </a:ext>
            </a:extLst>
          </p:cNvPr>
          <p:cNvSpPr>
            <a:spLocks noGrp="1"/>
          </p:cNvSpPr>
          <p:nvPr>
            <p:ph type="title"/>
          </p:nvPr>
        </p:nvSpPr>
        <p:spPr>
          <a:xfrm>
            <a:off x="790022" y="865920"/>
            <a:ext cx="6281928" cy="1744183"/>
          </a:xfrm>
        </p:spPr>
        <p:txBody>
          <a:bodyPr>
            <a:normAutofit/>
          </a:bodyPr>
          <a:lstStyle/>
          <a:p>
            <a:pPr>
              <a:spcBef>
                <a:spcPts val="900"/>
              </a:spcBef>
            </a:pPr>
            <a:r>
              <a:rPr lang="en-US" sz="3700" dirty="0">
                <a:latin typeface="Arial"/>
                <a:cs typeface="Arial"/>
              </a:rPr>
              <a:t>Spring 2023: </a:t>
            </a:r>
            <a:br>
              <a:rPr lang="en-US" sz="3700" dirty="0">
                <a:latin typeface="Arial"/>
                <a:cs typeface="Arial"/>
              </a:rPr>
            </a:br>
            <a:r>
              <a:rPr lang="en-US" sz="3700" dirty="0">
                <a:latin typeface="Arial"/>
                <a:cs typeface="Arial"/>
              </a:rPr>
              <a:t>Device data capture with Kismet / Wireshark</a:t>
            </a:r>
            <a:endParaRPr lang="en-US" sz="3700" dirty="0"/>
          </a:p>
          <a:p>
            <a:endParaRPr lang="en-US" sz="3700" dirty="0"/>
          </a:p>
        </p:txBody>
      </p:sp>
      <p:sp>
        <p:nvSpPr>
          <p:cNvPr id="21" name="Content Placeholder 20">
            <a:extLst>
              <a:ext uri="{FF2B5EF4-FFF2-40B4-BE49-F238E27FC236}">
                <a16:creationId xmlns:a16="http://schemas.microsoft.com/office/drawing/2014/main" id="{E6FBCC25-0700-5F51-5B11-BF2F0B67CC3D}"/>
              </a:ext>
            </a:extLst>
          </p:cNvPr>
          <p:cNvSpPr>
            <a:spLocks noGrp="1"/>
          </p:cNvSpPr>
          <p:nvPr>
            <p:ph idx="1"/>
          </p:nvPr>
        </p:nvSpPr>
        <p:spPr>
          <a:xfrm>
            <a:off x="790022" y="2566951"/>
            <a:ext cx="6281928" cy="3648456"/>
          </a:xfrm>
        </p:spPr>
        <p:txBody>
          <a:bodyPr vert="horz" lIns="91440" tIns="45720" rIns="91440" bIns="45720" rtlCol="0">
            <a:normAutofit/>
          </a:bodyPr>
          <a:lstStyle/>
          <a:p>
            <a:pPr>
              <a:lnSpc>
                <a:spcPct val="150000"/>
              </a:lnSpc>
            </a:pPr>
            <a:r>
              <a:rPr lang="en-US" sz="2000" dirty="0"/>
              <a:t>Wireshark: stream of live data, all data readily available</a:t>
            </a:r>
          </a:p>
          <a:p>
            <a:pPr>
              <a:lnSpc>
                <a:spcPct val="150000"/>
              </a:lnSpc>
              <a:buClr>
                <a:srgbClr val="262626"/>
              </a:buClr>
            </a:pPr>
            <a:r>
              <a:rPr lang="en-US" sz="2000" dirty="0"/>
              <a:t>Kismet: clean dashboard with statistics and overall data, non-scrolling feed</a:t>
            </a:r>
          </a:p>
          <a:p>
            <a:pPr>
              <a:lnSpc>
                <a:spcPct val="150000"/>
              </a:lnSpc>
              <a:buClr>
                <a:srgbClr val="262626"/>
              </a:buClr>
            </a:pPr>
            <a:endParaRPr lang="en-US" sz="2000" dirty="0"/>
          </a:p>
          <a:p>
            <a:pPr>
              <a:lnSpc>
                <a:spcPct val="150000"/>
              </a:lnSpc>
              <a:buClr>
                <a:srgbClr val="262626"/>
              </a:buClr>
            </a:pPr>
            <a:r>
              <a:rPr lang="en-US" sz="2000" dirty="0"/>
              <a:t>Investigated the attributes we can capture</a:t>
            </a:r>
          </a:p>
          <a:p>
            <a:pPr>
              <a:lnSpc>
                <a:spcPct val="150000"/>
              </a:lnSpc>
              <a:buClr>
                <a:srgbClr val="262626"/>
              </a:buClr>
            </a:pPr>
            <a:endParaRPr lang="en-US" sz="2000" dirty="0"/>
          </a:p>
        </p:txBody>
      </p:sp>
      <p:pic>
        <p:nvPicPr>
          <p:cNvPr id="5" name="Content Placeholder 4" descr="A screenshot of a computer&#10;&#10;Description automatically generated">
            <a:extLst>
              <a:ext uri="{FF2B5EF4-FFF2-40B4-BE49-F238E27FC236}">
                <a16:creationId xmlns:a16="http://schemas.microsoft.com/office/drawing/2014/main" id="{F4DF3E9B-E4AD-EF88-3837-5EF5E05ED5AE}"/>
              </a:ext>
            </a:extLst>
          </p:cNvPr>
          <p:cNvPicPr>
            <a:picLocks noChangeAspect="1"/>
          </p:cNvPicPr>
          <p:nvPr/>
        </p:nvPicPr>
        <p:blipFill rotWithShape="1">
          <a:blip r:embed="rId3"/>
          <a:srcRect l="27511" r="3491" b="-2"/>
          <a:stretch/>
        </p:blipFill>
        <p:spPr>
          <a:xfrm>
            <a:off x="7903029" y="237745"/>
            <a:ext cx="4058758" cy="3191256"/>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33EBCF41-7178-C7D9-D7E6-D6F6B4A547C7}"/>
              </a:ext>
            </a:extLst>
          </p:cNvPr>
          <p:cNvPicPr>
            <a:picLocks noChangeAspect="1"/>
          </p:cNvPicPr>
          <p:nvPr/>
        </p:nvPicPr>
        <p:blipFill rotWithShape="1">
          <a:blip r:embed="rId4"/>
          <a:srcRect l="15595" r="10636" b="-3"/>
          <a:stretch/>
        </p:blipFill>
        <p:spPr>
          <a:xfrm>
            <a:off x="7903029" y="3429002"/>
            <a:ext cx="4058758" cy="3191254"/>
          </a:xfrm>
          <a:prstGeom prst="rect">
            <a:avLst/>
          </a:prstGeom>
        </p:spPr>
      </p:pic>
    </p:spTree>
    <p:extLst>
      <p:ext uri="{BB962C8B-B14F-4D97-AF65-F5344CB8AC3E}">
        <p14:creationId xmlns:p14="http://schemas.microsoft.com/office/powerpoint/2010/main" val="2003926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A8054-D248-590F-E932-E9FCB9BDAE23}"/>
              </a:ext>
            </a:extLst>
          </p:cNvPr>
          <p:cNvSpPr>
            <a:spLocks noGrp="1"/>
          </p:cNvSpPr>
          <p:nvPr>
            <p:ph type="title"/>
          </p:nvPr>
        </p:nvSpPr>
        <p:spPr>
          <a:xfrm>
            <a:off x="5867874" y="892120"/>
            <a:ext cx="5447250" cy="1645920"/>
          </a:xfrm>
        </p:spPr>
        <p:txBody>
          <a:bodyPr>
            <a:normAutofit/>
          </a:bodyPr>
          <a:lstStyle/>
          <a:p>
            <a:pPr>
              <a:spcBef>
                <a:spcPts val="900"/>
              </a:spcBef>
            </a:pPr>
            <a:r>
              <a:rPr lang="en-US" sz="2600" dirty="0">
                <a:latin typeface="Arial"/>
                <a:cs typeface="Arial"/>
              </a:rPr>
              <a:t>Fall 2023: </a:t>
            </a:r>
            <a:br>
              <a:rPr lang="en-US" sz="2600" dirty="0">
                <a:latin typeface="Arial"/>
                <a:cs typeface="Arial"/>
              </a:rPr>
            </a:br>
            <a:r>
              <a:rPr lang="en-US" sz="2600" dirty="0">
                <a:latin typeface="Arial"/>
                <a:cs typeface="Arial"/>
              </a:rPr>
              <a:t>Parsing device data &amp; First attempt at device identification</a:t>
            </a:r>
            <a:endParaRPr lang="en-US" sz="2600" dirty="0"/>
          </a:p>
        </p:txBody>
      </p:sp>
      <p:sp>
        <p:nvSpPr>
          <p:cNvPr id="46" name="Rectangle 45">
            <a:extLst>
              <a:ext uri="{FF2B5EF4-FFF2-40B4-BE49-F238E27FC236}">
                <a16:creationId xmlns:a16="http://schemas.microsoft.com/office/drawing/2014/main" id="{3FC67B06-867A-4D0B-8E72-3D1CBBABF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526142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742DA6F1-EE0D-4BF0-B5FE-BF303A6B8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126" y="643464"/>
            <a:ext cx="3969458" cy="5571072"/>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US"/>
          </a:p>
        </p:txBody>
      </p:sp>
      <p:pic>
        <p:nvPicPr>
          <p:cNvPr id="4" name="Content Placeholder 3" descr="A screenshot of a computer program&#10;&#10;Description automatically generated">
            <a:extLst>
              <a:ext uri="{FF2B5EF4-FFF2-40B4-BE49-F238E27FC236}">
                <a16:creationId xmlns:a16="http://schemas.microsoft.com/office/drawing/2014/main" id="{1F1E7752-C3D3-D934-B1ED-701A299A8CFE}"/>
              </a:ext>
            </a:extLst>
          </p:cNvPr>
          <p:cNvPicPr>
            <a:picLocks noChangeAspect="1"/>
          </p:cNvPicPr>
          <p:nvPr/>
        </p:nvPicPr>
        <p:blipFill rotWithShape="1">
          <a:blip r:embed="rId3"/>
          <a:srcRect l="1400" r="19056" b="-3"/>
          <a:stretch/>
        </p:blipFill>
        <p:spPr>
          <a:xfrm>
            <a:off x="498029" y="262801"/>
            <a:ext cx="4595081" cy="3131451"/>
          </a:xfrm>
          <a:prstGeom prst="rect">
            <a:avLst/>
          </a:prstGeom>
        </p:spPr>
      </p:pic>
      <p:pic>
        <p:nvPicPr>
          <p:cNvPr id="5" name="Content Placeholder 4" descr="A screenshot of a computer screen&#10;&#10;Description automatically generated">
            <a:extLst>
              <a:ext uri="{FF2B5EF4-FFF2-40B4-BE49-F238E27FC236}">
                <a16:creationId xmlns:a16="http://schemas.microsoft.com/office/drawing/2014/main" id="{BE28406D-8F5B-BE46-9B4F-4DB9580DCB65}"/>
              </a:ext>
            </a:extLst>
          </p:cNvPr>
          <p:cNvPicPr>
            <a:picLocks noChangeAspect="1"/>
          </p:cNvPicPr>
          <p:nvPr/>
        </p:nvPicPr>
        <p:blipFill rotWithShape="1">
          <a:blip r:embed="rId4"/>
          <a:srcRect r="18664" b="-4"/>
          <a:stretch/>
        </p:blipFill>
        <p:spPr>
          <a:xfrm>
            <a:off x="498029" y="3394252"/>
            <a:ext cx="4595081" cy="3173095"/>
          </a:xfrm>
          <a:prstGeom prst="rect">
            <a:avLst/>
          </a:prstGeom>
        </p:spPr>
      </p:pic>
      <p:sp>
        <p:nvSpPr>
          <p:cNvPr id="21" name="Content Placeholder 20">
            <a:extLst>
              <a:ext uri="{FF2B5EF4-FFF2-40B4-BE49-F238E27FC236}">
                <a16:creationId xmlns:a16="http://schemas.microsoft.com/office/drawing/2014/main" id="{2CBFDDD0-5B7E-5123-4402-C0107143E700}"/>
              </a:ext>
            </a:extLst>
          </p:cNvPr>
          <p:cNvSpPr>
            <a:spLocks noGrp="1"/>
          </p:cNvSpPr>
          <p:nvPr>
            <p:ph idx="1"/>
          </p:nvPr>
        </p:nvSpPr>
        <p:spPr>
          <a:xfrm>
            <a:off x="5867873" y="2679192"/>
            <a:ext cx="5447251" cy="3291840"/>
          </a:xfrm>
        </p:spPr>
        <p:txBody>
          <a:bodyPr vert="horz" lIns="91440" tIns="45720" rIns="91440" bIns="45720" rtlCol="0">
            <a:normAutofit/>
          </a:bodyPr>
          <a:lstStyle/>
          <a:p>
            <a:r>
              <a:rPr lang="en-US" dirty="0"/>
              <a:t>Apple watch: </a:t>
            </a:r>
          </a:p>
          <a:p>
            <a:pPr lvl="1"/>
            <a:r>
              <a:rPr lang="en-US" dirty="0"/>
              <a:t>Fingerprinted with RSSI and power level</a:t>
            </a:r>
          </a:p>
          <a:p>
            <a:pPr>
              <a:buClr>
                <a:srgbClr val="262626"/>
              </a:buClr>
            </a:pPr>
            <a:endParaRPr lang="en-US" dirty="0"/>
          </a:p>
          <a:p>
            <a:pPr>
              <a:buClr>
                <a:srgbClr val="262626"/>
              </a:buClr>
            </a:pPr>
            <a:r>
              <a:rPr lang="en-US" dirty="0"/>
              <a:t>Laptop: </a:t>
            </a:r>
          </a:p>
          <a:p>
            <a:pPr lvl="1">
              <a:buClr>
                <a:srgbClr val="262626"/>
              </a:buClr>
            </a:pPr>
            <a:r>
              <a:rPr lang="en-US" dirty="0">
                <a:ea typeface="+mn-lt"/>
                <a:cs typeface="+mn-lt"/>
              </a:rPr>
              <a:t>Fingerprinted by company ID attribute and RSSI</a:t>
            </a:r>
          </a:p>
          <a:p>
            <a:pPr lvl="1">
              <a:buClr>
                <a:srgbClr val="262626"/>
              </a:buClr>
            </a:pPr>
            <a:endParaRPr lang="en-US" dirty="0">
              <a:ea typeface="+mn-lt"/>
              <a:cs typeface="+mn-lt"/>
            </a:endParaRPr>
          </a:p>
          <a:p>
            <a:pPr>
              <a:buClr>
                <a:srgbClr val="262626"/>
              </a:buClr>
            </a:pPr>
            <a:r>
              <a:rPr lang="en-US" dirty="0">
                <a:ea typeface="+mn-lt"/>
                <a:cs typeface="+mn-lt"/>
              </a:rPr>
              <a:t>Limitations:</a:t>
            </a:r>
          </a:p>
          <a:p>
            <a:pPr lvl="1">
              <a:buClr>
                <a:srgbClr val="262626"/>
              </a:buClr>
            </a:pPr>
            <a:r>
              <a:rPr lang="en-US" dirty="0">
                <a:ea typeface="+mn-lt"/>
                <a:cs typeface="+mn-lt"/>
              </a:rPr>
              <a:t>Signal strength varies as device moves </a:t>
            </a:r>
          </a:p>
          <a:p>
            <a:pPr lvl="1">
              <a:buClr>
                <a:srgbClr val="262626"/>
              </a:buClr>
            </a:pPr>
            <a:r>
              <a:rPr lang="en-US" dirty="0">
                <a:ea typeface="+mn-lt"/>
                <a:cs typeface="+mn-lt"/>
              </a:rPr>
              <a:t>Only two attributes of analysis</a:t>
            </a:r>
          </a:p>
          <a:p>
            <a:pPr>
              <a:buClr>
                <a:srgbClr val="262626"/>
              </a:buClr>
            </a:pPr>
            <a:endParaRPr lang="en-US" dirty="0"/>
          </a:p>
        </p:txBody>
      </p:sp>
    </p:spTree>
    <p:extLst>
      <p:ext uri="{BB962C8B-B14F-4D97-AF65-F5344CB8AC3E}">
        <p14:creationId xmlns:p14="http://schemas.microsoft.com/office/powerpoint/2010/main" val="1449845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68772-0E76-6261-DB1B-497ED69B9B35}"/>
              </a:ext>
            </a:extLst>
          </p:cNvPr>
          <p:cNvSpPr>
            <a:spLocks noGrp="1"/>
          </p:cNvSpPr>
          <p:nvPr>
            <p:ph type="title"/>
          </p:nvPr>
        </p:nvSpPr>
        <p:spPr/>
        <p:txBody>
          <a:bodyPr>
            <a:normAutofit/>
          </a:bodyPr>
          <a:lstStyle/>
          <a:p>
            <a:pPr>
              <a:lnSpc>
                <a:spcPct val="100000"/>
              </a:lnSpc>
              <a:spcBef>
                <a:spcPts val="900"/>
              </a:spcBef>
            </a:pPr>
            <a:r>
              <a:rPr lang="en-US" sz="4400" dirty="0">
                <a:solidFill>
                  <a:srgbClr val="000000"/>
                </a:solidFill>
                <a:latin typeface="Arial"/>
                <a:cs typeface="Arial"/>
              </a:rPr>
              <a:t>Related Works:</a:t>
            </a:r>
            <a:endParaRPr lang="en-US" sz="4400" dirty="0"/>
          </a:p>
          <a:p>
            <a:endParaRPr lang="en-US" sz="4400" dirty="0"/>
          </a:p>
        </p:txBody>
      </p:sp>
      <p:sp>
        <p:nvSpPr>
          <p:cNvPr id="3" name="Content Placeholder 2">
            <a:extLst>
              <a:ext uri="{FF2B5EF4-FFF2-40B4-BE49-F238E27FC236}">
                <a16:creationId xmlns:a16="http://schemas.microsoft.com/office/drawing/2014/main" id="{61D9BDE9-C428-9DA3-6A60-15AE85030987}"/>
              </a:ext>
            </a:extLst>
          </p:cNvPr>
          <p:cNvSpPr>
            <a:spLocks noGrp="1"/>
          </p:cNvSpPr>
          <p:nvPr>
            <p:ph idx="1"/>
          </p:nvPr>
        </p:nvSpPr>
        <p:spPr>
          <a:xfrm>
            <a:off x="975360" y="1828800"/>
            <a:ext cx="10058400" cy="3931920"/>
          </a:xfrm>
        </p:spPr>
        <p:txBody>
          <a:bodyPr vert="horz" lIns="91440" tIns="45720" rIns="91440" bIns="45720" rtlCol="0" anchor="t">
            <a:normAutofit/>
          </a:bodyPr>
          <a:lstStyle/>
          <a:p>
            <a:pPr>
              <a:buClr>
                <a:srgbClr val="262626"/>
              </a:buClr>
            </a:pPr>
            <a:r>
              <a:rPr lang="en-US" dirty="0">
                <a:latin typeface="Arial"/>
                <a:cs typeface="Arial"/>
                <a:hlinkClick r:id="rId3"/>
              </a:rPr>
              <a:t>The University of Edinburgh: Anatomy of a Vulnerable Fitness Tracking System: Dissecting the Fitbit Cloud, App, and Firmware, 2018</a:t>
            </a:r>
            <a:endParaRPr lang="en-US" dirty="0">
              <a:latin typeface="Calibri"/>
              <a:cs typeface="Calibri"/>
            </a:endParaRPr>
          </a:p>
          <a:p>
            <a:pPr lvl="1">
              <a:buClr>
                <a:srgbClr val="262626"/>
              </a:buClr>
            </a:pPr>
            <a:r>
              <a:rPr lang="en-US" sz="1800" dirty="0">
                <a:latin typeface="Arial"/>
                <a:cs typeface="Arial"/>
              </a:rPr>
              <a:t>Exposed encryption keys via BLE exploit</a:t>
            </a:r>
            <a:endParaRPr lang="en-US" sz="1800" dirty="0">
              <a:latin typeface="Arial"/>
              <a:cs typeface="Arial"/>
              <a:hlinkClick r:id="rId4">
                <a:extLst>
                  <a:ext uri="{A12FA001-AC4F-418D-AE19-62706E023703}">
                    <ahyp:hlinkClr xmlns:ahyp="http://schemas.microsoft.com/office/drawing/2018/hyperlinkcolor" val="tx"/>
                  </a:ext>
                </a:extLst>
              </a:hlinkClick>
            </a:endParaRPr>
          </a:p>
          <a:p>
            <a:pPr>
              <a:buClr>
                <a:srgbClr val="262626"/>
              </a:buClr>
            </a:pPr>
            <a:endParaRPr lang="en-US" dirty="0">
              <a:solidFill>
                <a:srgbClr val="F49100"/>
              </a:solidFill>
              <a:latin typeface="Arial"/>
              <a:cs typeface="Arial"/>
              <a:hlinkClick r:id="rId4">
                <a:extLst>
                  <a:ext uri="{A12FA001-AC4F-418D-AE19-62706E023703}">
                    <ahyp:hlinkClr xmlns:ahyp="http://schemas.microsoft.com/office/drawing/2018/hyperlinkcolor" val="tx"/>
                  </a:ext>
                </a:extLst>
              </a:hlinkClick>
            </a:endParaRPr>
          </a:p>
          <a:p>
            <a:pPr>
              <a:buClr>
                <a:srgbClr val="262626"/>
              </a:buClr>
            </a:pPr>
            <a:r>
              <a:rPr lang="en-US" dirty="0">
                <a:solidFill>
                  <a:srgbClr val="F49100"/>
                </a:solidFill>
                <a:latin typeface="Arial"/>
                <a:cs typeface="Arial"/>
                <a:hlinkClick r:id="rId4">
                  <a:extLst>
                    <a:ext uri="{A12FA001-AC4F-418D-AE19-62706E023703}">
                      <ahyp:hlinkClr xmlns:ahyp="http://schemas.microsoft.com/office/drawing/2018/hyperlinkcolor" val="tx"/>
                    </a:ext>
                  </a:extLst>
                </a:hlinkClick>
              </a:rPr>
              <a:t>Yue Zhang: Breaking Secure Pairing of Bluetooth Low Energy Using Downgrade Attacks, 2020</a:t>
            </a:r>
            <a:endParaRPr lang="en-US" dirty="0">
              <a:solidFill>
                <a:srgbClr val="F49100"/>
              </a:solidFill>
              <a:latin typeface="Calibri"/>
              <a:cs typeface="Calibri"/>
            </a:endParaRPr>
          </a:p>
          <a:p>
            <a:pPr lvl="1">
              <a:buClr>
                <a:srgbClr val="262626"/>
              </a:buClr>
            </a:pPr>
            <a:r>
              <a:rPr lang="en-US" sz="1800" dirty="0">
                <a:latin typeface="Arial" panose="020B0604020202020204" pitchFamily="34" charset="0"/>
                <a:cs typeface="Arial" panose="020B0604020202020204" pitchFamily="34" charset="0"/>
              </a:rPr>
              <a:t>BLE has vulnerabilities that allow for lateral movement</a:t>
            </a:r>
            <a:endParaRPr lang="en-US" sz="1800" dirty="0">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endParaRPr>
          </a:p>
          <a:p>
            <a:pPr>
              <a:buClr>
                <a:srgbClr val="262626"/>
              </a:buClr>
            </a:pPr>
            <a:endParaRPr lang="en-US" dirty="0">
              <a:solidFill>
                <a:srgbClr val="F49100"/>
              </a:solidFill>
              <a:latin typeface="Arial"/>
              <a:cs typeface="Arial"/>
              <a:hlinkClick r:id="rId5">
                <a:extLst>
                  <a:ext uri="{A12FA001-AC4F-418D-AE19-62706E023703}">
                    <ahyp:hlinkClr xmlns:ahyp="http://schemas.microsoft.com/office/drawing/2018/hyperlinkcolor" val="tx"/>
                  </a:ext>
                </a:extLst>
              </a:hlinkClick>
            </a:endParaRPr>
          </a:p>
          <a:p>
            <a:pPr>
              <a:buClr>
                <a:srgbClr val="262626"/>
              </a:buClr>
            </a:pPr>
            <a:r>
              <a:rPr lang="en-US" dirty="0">
                <a:solidFill>
                  <a:srgbClr val="F49100"/>
                </a:solidFill>
                <a:latin typeface="Arial"/>
                <a:cs typeface="Arial"/>
                <a:hlinkClick r:id="rId5">
                  <a:extLst>
                    <a:ext uri="{A12FA001-AC4F-418D-AE19-62706E023703}">
                      <ahyp:hlinkClr xmlns:ahyp="http://schemas.microsoft.com/office/drawing/2018/hyperlinkcolor" val="tx"/>
                    </a:ext>
                  </a:extLst>
                </a:hlinkClick>
              </a:rPr>
              <a:t>Champlain College: Bluetooth Tracking, 2018</a:t>
            </a:r>
            <a:endParaRPr lang="en-US" dirty="0">
              <a:solidFill>
                <a:srgbClr val="F49100"/>
              </a:solidFill>
              <a:latin typeface="Arial"/>
              <a:cs typeface="Arial"/>
            </a:endParaRPr>
          </a:p>
          <a:p>
            <a:pPr lvl="1">
              <a:buClr>
                <a:srgbClr val="262626"/>
              </a:buClr>
            </a:pPr>
            <a:r>
              <a:rPr lang="en-US" sz="1800" dirty="0">
                <a:latin typeface="Arial"/>
                <a:cs typeface="Arial"/>
              </a:rPr>
              <a:t>Findings suggest that Bluetooth scanning may not be precise/reproduceable </a:t>
            </a:r>
          </a:p>
          <a:p>
            <a:pPr lvl="2">
              <a:buClr>
                <a:srgbClr val="262626"/>
              </a:buClr>
            </a:pPr>
            <a:endParaRPr lang="en-US" sz="1600" dirty="0">
              <a:latin typeface="Arial"/>
              <a:cs typeface="Arial"/>
            </a:endParaRPr>
          </a:p>
          <a:p>
            <a:pPr>
              <a:buClr>
                <a:srgbClr val="262626"/>
              </a:buClr>
            </a:pPr>
            <a:endParaRPr lang="en-US" dirty="0"/>
          </a:p>
        </p:txBody>
      </p:sp>
    </p:spTree>
    <p:extLst>
      <p:ext uri="{BB962C8B-B14F-4D97-AF65-F5344CB8AC3E}">
        <p14:creationId xmlns:p14="http://schemas.microsoft.com/office/powerpoint/2010/main" val="1608567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3" name="Rectangle 1102">
            <a:extLst>
              <a:ext uri="{FF2B5EF4-FFF2-40B4-BE49-F238E27FC236}">
                <a16:creationId xmlns:a16="http://schemas.microsoft.com/office/drawing/2014/main" id="{93EF527E-76C9-48D0-AD8D-3694C5FCE0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7370" y="0"/>
            <a:ext cx="435463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4" name="Rectangle 1103">
            <a:extLst>
              <a:ext uri="{FF2B5EF4-FFF2-40B4-BE49-F238E27FC236}">
                <a16:creationId xmlns:a16="http://schemas.microsoft.com/office/drawing/2014/main" id="{6F0B011F-6C65-4AC1-9953-6861E70AA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7744" y="237744"/>
            <a:ext cx="7652977"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CDEEEE5-DA3A-8C95-D260-895CDCA83242}"/>
              </a:ext>
            </a:extLst>
          </p:cNvPr>
          <p:cNvSpPr>
            <a:spLocks noGrp="1"/>
          </p:cNvSpPr>
          <p:nvPr>
            <p:ph type="title"/>
          </p:nvPr>
        </p:nvSpPr>
        <p:spPr>
          <a:xfrm>
            <a:off x="868680" y="642593"/>
            <a:ext cx="6281928" cy="1744183"/>
          </a:xfrm>
        </p:spPr>
        <p:txBody>
          <a:bodyPr vert="horz" lIns="91440" tIns="45720" rIns="91440" bIns="45720" rtlCol="0">
            <a:normAutofit/>
          </a:bodyPr>
          <a:lstStyle/>
          <a:p>
            <a:r>
              <a:rPr lang="en-US" spc="-100"/>
              <a:t>Data Collection</a:t>
            </a:r>
            <a:endParaRPr lang="en-US" cap="all" spc="-100"/>
          </a:p>
        </p:txBody>
      </p:sp>
      <p:sp>
        <p:nvSpPr>
          <p:cNvPr id="3" name="Content Placeholder 2">
            <a:extLst>
              <a:ext uri="{FF2B5EF4-FFF2-40B4-BE49-F238E27FC236}">
                <a16:creationId xmlns:a16="http://schemas.microsoft.com/office/drawing/2014/main" id="{4C646C0B-1AFD-ACB7-C0CB-ACFE7B1B1289}"/>
              </a:ext>
            </a:extLst>
          </p:cNvPr>
          <p:cNvSpPr>
            <a:spLocks noGrp="1"/>
          </p:cNvSpPr>
          <p:nvPr>
            <p:ph idx="1"/>
          </p:nvPr>
        </p:nvSpPr>
        <p:spPr>
          <a:xfrm>
            <a:off x="868680" y="2082800"/>
            <a:ext cx="6619240" cy="3952240"/>
          </a:xfrm>
        </p:spPr>
        <p:txBody>
          <a:bodyPr vert="horz" lIns="91440" tIns="45720" rIns="91440" bIns="45720" rtlCol="0">
            <a:normAutofit lnSpcReduction="10000"/>
          </a:bodyPr>
          <a:lstStyle/>
          <a:p>
            <a:pPr>
              <a:lnSpc>
                <a:spcPct val="200000"/>
              </a:lnSpc>
              <a:spcBef>
                <a:spcPts val="0"/>
              </a:spcBef>
              <a:spcAft>
                <a:spcPts val="600"/>
              </a:spcAft>
            </a:pPr>
            <a:r>
              <a:rPr lang="en-US" spc="80" dirty="0"/>
              <a:t>Ubertooth1 vs NordicRF52840 BLE</a:t>
            </a:r>
          </a:p>
          <a:p>
            <a:pPr lvl="1">
              <a:lnSpc>
                <a:spcPct val="200000"/>
              </a:lnSpc>
              <a:spcBef>
                <a:spcPts val="0"/>
              </a:spcBef>
              <a:spcAft>
                <a:spcPts val="600"/>
              </a:spcAft>
            </a:pPr>
            <a:r>
              <a:rPr lang="en-US" spc="80" dirty="0"/>
              <a:t>RSSI, Power Level, and more!</a:t>
            </a:r>
          </a:p>
          <a:p>
            <a:pPr lvl="1">
              <a:lnSpc>
                <a:spcPct val="200000"/>
              </a:lnSpc>
              <a:spcBef>
                <a:spcPts val="0"/>
              </a:spcBef>
              <a:spcAft>
                <a:spcPts val="600"/>
              </a:spcAft>
            </a:pPr>
            <a:r>
              <a:rPr lang="en-US" spc="80" dirty="0"/>
              <a:t>Deprecation, power supply</a:t>
            </a:r>
          </a:p>
          <a:p>
            <a:pPr>
              <a:lnSpc>
                <a:spcPct val="200000"/>
              </a:lnSpc>
              <a:spcBef>
                <a:spcPts val="0"/>
              </a:spcBef>
              <a:spcAft>
                <a:spcPts val="600"/>
              </a:spcAft>
            </a:pPr>
            <a:r>
              <a:rPr lang="en-US" spc="80" dirty="0"/>
              <a:t>Isolation</a:t>
            </a:r>
          </a:p>
          <a:p>
            <a:pPr lvl="1">
              <a:lnSpc>
                <a:spcPct val="200000"/>
              </a:lnSpc>
              <a:spcBef>
                <a:spcPts val="0"/>
              </a:spcBef>
              <a:spcAft>
                <a:spcPts val="600"/>
              </a:spcAft>
            </a:pPr>
            <a:r>
              <a:rPr lang="en-US" spc="80" dirty="0"/>
              <a:t>Necessary to detect a MAC transition</a:t>
            </a:r>
          </a:p>
          <a:p>
            <a:pPr>
              <a:lnSpc>
                <a:spcPct val="200000"/>
              </a:lnSpc>
              <a:spcBef>
                <a:spcPts val="0"/>
              </a:spcBef>
              <a:spcAft>
                <a:spcPts val="600"/>
              </a:spcAft>
            </a:pPr>
            <a:r>
              <a:rPr lang="en-US" spc="80" dirty="0"/>
              <a:t>Observing Behavior Patterns</a:t>
            </a:r>
          </a:p>
          <a:p>
            <a:pPr lvl="1">
              <a:lnSpc>
                <a:spcPct val="200000"/>
              </a:lnSpc>
              <a:spcBef>
                <a:spcPts val="0"/>
              </a:spcBef>
              <a:spcAft>
                <a:spcPts val="600"/>
              </a:spcAft>
            </a:pPr>
            <a:r>
              <a:rPr lang="en-US" spc="80" dirty="0"/>
              <a:t>How often does a device advertise/randomize?</a:t>
            </a:r>
          </a:p>
        </p:txBody>
      </p:sp>
      <p:pic>
        <p:nvPicPr>
          <p:cNvPr id="1032" name="Picture 8" descr="Ubertooth One (101953)">
            <a:extLst>
              <a:ext uri="{FF2B5EF4-FFF2-40B4-BE49-F238E27FC236}">
                <a16:creationId xmlns:a16="http://schemas.microsoft.com/office/drawing/2014/main" id="{F0949AE7-062F-AB07-5115-BA3A865EDB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721" t="9295" r="18637" b="15820"/>
          <a:stretch/>
        </p:blipFill>
        <p:spPr bwMode="auto">
          <a:xfrm>
            <a:off x="8650635" y="484632"/>
            <a:ext cx="2790023" cy="279002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RF7002 DK - The first Wi-Fi Development Kit from Nordic Semiconductor">
            <a:extLst>
              <a:ext uri="{FF2B5EF4-FFF2-40B4-BE49-F238E27FC236}">
                <a16:creationId xmlns:a16="http://schemas.microsoft.com/office/drawing/2014/main" id="{7B6F9E08-22F4-FA3B-6C34-81EA94DBEB0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8386170" y="3896447"/>
            <a:ext cx="3321198" cy="1868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484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B05CB-DCE8-3D21-3708-14CE1962B871}"/>
              </a:ext>
            </a:extLst>
          </p:cNvPr>
          <p:cNvSpPr>
            <a:spLocks noGrp="1"/>
          </p:cNvSpPr>
          <p:nvPr>
            <p:ph type="title"/>
          </p:nvPr>
        </p:nvSpPr>
        <p:spPr/>
        <p:txBody>
          <a:bodyPr/>
          <a:lstStyle/>
          <a:p>
            <a:r>
              <a:rPr lang="en-US"/>
              <a:t>Data Analysis </a:t>
            </a:r>
          </a:p>
        </p:txBody>
      </p:sp>
      <p:sp>
        <p:nvSpPr>
          <p:cNvPr id="3" name="Content Placeholder 2">
            <a:extLst>
              <a:ext uri="{FF2B5EF4-FFF2-40B4-BE49-F238E27FC236}">
                <a16:creationId xmlns:a16="http://schemas.microsoft.com/office/drawing/2014/main" id="{0B977749-FC1C-FA7A-D34C-94E7F0867092}"/>
              </a:ext>
            </a:extLst>
          </p:cNvPr>
          <p:cNvSpPr>
            <a:spLocks noGrp="1"/>
          </p:cNvSpPr>
          <p:nvPr>
            <p:ph idx="1"/>
          </p:nvPr>
        </p:nvSpPr>
        <p:spPr/>
        <p:txBody>
          <a:bodyPr vert="horz" lIns="91440" tIns="45720" rIns="91440" bIns="45720" rtlCol="0" anchor="t">
            <a:normAutofit lnSpcReduction="10000"/>
          </a:bodyPr>
          <a:lstStyle/>
          <a:p>
            <a:pPr>
              <a:buFont typeface="Arial" pitchFamily="18" charset="0"/>
              <a:buChar char="•"/>
            </a:pPr>
            <a:r>
              <a:rPr lang="en-US" dirty="0">
                <a:ea typeface="+mn-lt"/>
                <a:cs typeface="+mn-lt"/>
              </a:rPr>
              <a:t>Programmatically </a:t>
            </a:r>
            <a:r>
              <a:rPr lang="en-US" dirty="0"/>
              <a:t>determine advertising address changes</a:t>
            </a:r>
          </a:p>
          <a:p>
            <a:pPr>
              <a:buClr>
                <a:srgbClr val="262626"/>
              </a:buClr>
              <a:buFont typeface="Arial" pitchFamily="18" charset="0"/>
              <a:buChar char="•"/>
            </a:pPr>
            <a:endParaRPr lang="en-US" dirty="0"/>
          </a:p>
          <a:p>
            <a:pPr>
              <a:buClr>
                <a:srgbClr val="262626"/>
              </a:buClr>
              <a:buFont typeface="Arial" pitchFamily="18" charset="0"/>
              <a:buChar char="•"/>
            </a:pPr>
            <a:r>
              <a:rPr lang="en-US" dirty="0"/>
              <a:t>Differentiate massive amounts of packets</a:t>
            </a:r>
          </a:p>
          <a:p>
            <a:pPr lvl="1">
              <a:buClr>
                <a:srgbClr val="262626"/>
              </a:buClr>
              <a:buFont typeface="Arial" pitchFamily="18" charset="0"/>
              <a:buChar char="•"/>
            </a:pPr>
            <a:r>
              <a:rPr lang="en-US" dirty="0"/>
              <a:t>Using captured data attributes</a:t>
            </a:r>
          </a:p>
          <a:p>
            <a:pPr lvl="1">
              <a:buClr>
                <a:srgbClr val="262626"/>
              </a:buClr>
              <a:buFont typeface="Arial" pitchFamily="18" charset="0"/>
              <a:buChar char="•"/>
            </a:pPr>
            <a:r>
              <a:rPr lang="en-US" dirty="0"/>
              <a:t>MAC, time, RSSI, Power Level, Company ID</a:t>
            </a:r>
            <a:br>
              <a:rPr lang="en-US" dirty="0"/>
            </a:br>
            <a:endParaRPr lang="en-US" dirty="0"/>
          </a:p>
          <a:p>
            <a:pPr>
              <a:buClr>
                <a:srgbClr val="262626"/>
              </a:buClr>
              <a:buFont typeface="Arial" pitchFamily="18" charset="0"/>
              <a:buChar char="•"/>
            </a:pPr>
            <a:r>
              <a:rPr lang="en-US" dirty="0"/>
              <a:t>Parse captured packets to Python objects</a:t>
            </a:r>
          </a:p>
          <a:p>
            <a:pPr lvl="1">
              <a:buClr>
                <a:srgbClr val="262626"/>
              </a:buClr>
              <a:buFont typeface="Courier New" pitchFamily="18" charset="0"/>
              <a:buChar char="o"/>
            </a:pPr>
            <a:r>
              <a:rPr lang="en-US" dirty="0" err="1"/>
              <a:t>Pyshark</a:t>
            </a:r>
            <a:r>
              <a:rPr lang="en-US" dirty="0"/>
              <a:t> </a:t>
            </a:r>
          </a:p>
          <a:p>
            <a:pPr marL="274320" lvl="1" indent="0">
              <a:buClr>
                <a:srgbClr val="262626"/>
              </a:buClr>
              <a:buNone/>
            </a:pPr>
            <a:endParaRPr lang="en-US" dirty="0"/>
          </a:p>
          <a:p>
            <a:pPr>
              <a:buClr>
                <a:srgbClr val="262626"/>
              </a:buClr>
              <a:buFont typeface="Arial" pitchFamily="18" charset="0"/>
              <a:buChar char="•"/>
            </a:pPr>
            <a:r>
              <a:rPr lang="en-US" dirty="0"/>
              <a:t>Graphically display address changes </a:t>
            </a:r>
          </a:p>
          <a:p>
            <a:pPr lvl="1">
              <a:buFont typeface="Courier New" pitchFamily="18" charset="0"/>
              <a:buChar char="o"/>
            </a:pPr>
            <a:r>
              <a:rPr lang="en-US" dirty="0"/>
              <a:t>Matplotlib</a:t>
            </a:r>
            <a:br>
              <a:rPr lang="en-US" dirty="0"/>
            </a:br>
            <a:endParaRPr lang="en-US" dirty="0"/>
          </a:p>
          <a:p>
            <a:pPr marL="0" indent="0">
              <a:buNone/>
            </a:pPr>
            <a:endParaRPr lang="en-US" dirty="0"/>
          </a:p>
          <a:p>
            <a:pPr>
              <a:buFont typeface="Arial" pitchFamily="18" charset="0"/>
              <a:buChar char="•"/>
            </a:pPr>
            <a:endParaRPr lang="en-US" dirty="0"/>
          </a:p>
        </p:txBody>
      </p:sp>
      <p:pic>
        <p:nvPicPr>
          <p:cNvPr id="4" name="Picture 3" descr="miro.medium.com/v2/resize:fit:640/1*ngLa26hJusVSNH...">
            <a:extLst>
              <a:ext uri="{FF2B5EF4-FFF2-40B4-BE49-F238E27FC236}">
                <a16:creationId xmlns:a16="http://schemas.microsoft.com/office/drawing/2014/main" id="{9BE0090D-F42A-FE92-D4BF-F4CCA65563DE}"/>
              </a:ext>
            </a:extLst>
          </p:cNvPr>
          <p:cNvPicPr>
            <a:picLocks noChangeAspect="1"/>
          </p:cNvPicPr>
          <p:nvPr/>
        </p:nvPicPr>
        <p:blipFill>
          <a:blip r:embed="rId3"/>
          <a:stretch>
            <a:fillRect/>
          </a:stretch>
        </p:blipFill>
        <p:spPr>
          <a:xfrm>
            <a:off x="7465500" y="1713908"/>
            <a:ext cx="4205623" cy="2432578"/>
          </a:xfrm>
          <a:prstGeom prst="rect">
            <a:avLst/>
          </a:prstGeom>
        </p:spPr>
      </p:pic>
      <p:pic>
        <p:nvPicPr>
          <p:cNvPr id="5" name="Picture 4" descr="Customising figures in Matplotlib">
            <a:extLst>
              <a:ext uri="{FF2B5EF4-FFF2-40B4-BE49-F238E27FC236}">
                <a16:creationId xmlns:a16="http://schemas.microsoft.com/office/drawing/2014/main" id="{65F79869-7DBC-A565-0D48-6F801597C2DA}"/>
              </a:ext>
            </a:extLst>
          </p:cNvPr>
          <p:cNvPicPr>
            <a:picLocks noChangeAspect="1"/>
          </p:cNvPicPr>
          <p:nvPr/>
        </p:nvPicPr>
        <p:blipFill>
          <a:blip r:embed="rId4"/>
          <a:stretch>
            <a:fillRect/>
          </a:stretch>
        </p:blipFill>
        <p:spPr>
          <a:xfrm>
            <a:off x="6348462" y="4226406"/>
            <a:ext cx="5183136" cy="1730277"/>
          </a:xfrm>
          <a:prstGeom prst="rect">
            <a:avLst/>
          </a:prstGeom>
        </p:spPr>
      </p:pic>
    </p:spTree>
    <p:extLst>
      <p:ext uri="{BB962C8B-B14F-4D97-AF65-F5344CB8AC3E}">
        <p14:creationId xmlns:p14="http://schemas.microsoft.com/office/powerpoint/2010/main" val="2099007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14F94-A962-8507-C0CA-386D54866713}"/>
              </a:ext>
            </a:extLst>
          </p:cNvPr>
          <p:cNvSpPr>
            <a:spLocks noGrp="1"/>
          </p:cNvSpPr>
          <p:nvPr>
            <p:ph type="title"/>
          </p:nvPr>
        </p:nvSpPr>
        <p:spPr>
          <a:xfrm>
            <a:off x="389467" y="450170"/>
            <a:ext cx="10058400" cy="1371600"/>
          </a:xfrm>
        </p:spPr>
        <p:txBody>
          <a:bodyPr/>
          <a:lstStyle/>
          <a:p>
            <a:r>
              <a:rPr lang="en-US"/>
              <a:t>Findings</a:t>
            </a:r>
          </a:p>
        </p:txBody>
      </p:sp>
      <p:sp>
        <p:nvSpPr>
          <p:cNvPr id="3" name="Content Placeholder 2">
            <a:extLst>
              <a:ext uri="{FF2B5EF4-FFF2-40B4-BE49-F238E27FC236}">
                <a16:creationId xmlns:a16="http://schemas.microsoft.com/office/drawing/2014/main" id="{58515418-CBFA-4143-2C0D-AAF4C86D202E}"/>
              </a:ext>
            </a:extLst>
          </p:cNvPr>
          <p:cNvSpPr>
            <a:spLocks noGrp="1"/>
          </p:cNvSpPr>
          <p:nvPr>
            <p:ph idx="1"/>
          </p:nvPr>
        </p:nvSpPr>
        <p:spPr>
          <a:xfrm>
            <a:off x="388749" y="2141866"/>
            <a:ext cx="4627536" cy="3931920"/>
          </a:xfrm>
        </p:spPr>
        <p:txBody>
          <a:bodyPr vert="horz" lIns="91440" tIns="45720" rIns="91440" bIns="45720" rtlCol="0" anchor="t">
            <a:normAutofit/>
          </a:bodyPr>
          <a:lstStyle/>
          <a:p>
            <a:pPr>
              <a:buFont typeface="Arial"/>
              <a:buChar char="•"/>
            </a:pPr>
            <a:r>
              <a:rPr lang="en-US"/>
              <a:t>Focus on last and first packets of address</a:t>
            </a:r>
          </a:p>
          <a:p>
            <a:pPr>
              <a:buClr>
                <a:srgbClr val="262626"/>
              </a:buClr>
              <a:buFont typeface="Arial"/>
              <a:buChar char="•"/>
            </a:pPr>
            <a:endParaRPr lang="en-US"/>
          </a:p>
          <a:p>
            <a:pPr>
              <a:buClr>
                <a:srgbClr val="262626"/>
              </a:buClr>
              <a:buFont typeface="Arial"/>
              <a:buChar char="•"/>
            </a:pPr>
            <a:r>
              <a:rPr lang="en-US"/>
              <a:t>Graphical output validates text output</a:t>
            </a:r>
          </a:p>
          <a:p>
            <a:pPr>
              <a:buClr>
                <a:srgbClr val="262626"/>
              </a:buClr>
              <a:buFont typeface="Arial"/>
              <a:buChar char="•"/>
            </a:pPr>
            <a:endParaRPr lang="en-US"/>
          </a:p>
          <a:p>
            <a:pPr>
              <a:buClr>
                <a:srgbClr val="262626"/>
              </a:buClr>
              <a:buFont typeface="Arial"/>
              <a:buChar char="•"/>
            </a:pPr>
            <a:r>
              <a:rPr lang="en-US">
                <a:ea typeface="+mn-lt"/>
                <a:cs typeface="+mn-lt"/>
              </a:rPr>
              <a:t>Confidence </a:t>
            </a:r>
            <a:r>
              <a:rPr lang="en-US"/>
              <a:t>on address's average delay between packets</a:t>
            </a:r>
          </a:p>
        </p:txBody>
      </p:sp>
      <p:pic>
        <p:nvPicPr>
          <p:cNvPr id="8" name="Picture 7" descr="A graph with numbers and numbers&#10;&#10;Description automatically generated">
            <a:extLst>
              <a:ext uri="{FF2B5EF4-FFF2-40B4-BE49-F238E27FC236}">
                <a16:creationId xmlns:a16="http://schemas.microsoft.com/office/drawing/2014/main" id="{AF9C0E0E-F10B-0C1D-45CB-CD5F16FD5DA0}"/>
              </a:ext>
            </a:extLst>
          </p:cNvPr>
          <p:cNvPicPr>
            <a:picLocks noChangeAspect="1"/>
          </p:cNvPicPr>
          <p:nvPr/>
        </p:nvPicPr>
        <p:blipFill>
          <a:blip r:embed="rId2"/>
          <a:stretch>
            <a:fillRect/>
          </a:stretch>
        </p:blipFill>
        <p:spPr>
          <a:xfrm>
            <a:off x="4967209" y="1649279"/>
            <a:ext cx="6532534" cy="4909087"/>
          </a:xfrm>
          <a:prstGeom prst="rect">
            <a:avLst/>
          </a:prstGeom>
        </p:spPr>
      </p:pic>
      <p:pic>
        <p:nvPicPr>
          <p:cNvPr id="10" name="Picture 9" descr="A number and text on a black background&#10;&#10;Description automatically generated">
            <a:extLst>
              <a:ext uri="{FF2B5EF4-FFF2-40B4-BE49-F238E27FC236}">
                <a16:creationId xmlns:a16="http://schemas.microsoft.com/office/drawing/2014/main" id="{196BAAF4-30FB-FACF-E092-276D2D096658}"/>
              </a:ext>
            </a:extLst>
          </p:cNvPr>
          <p:cNvPicPr>
            <a:picLocks noChangeAspect="1"/>
          </p:cNvPicPr>
          <p:nvPr/>
        </p:nvPicPr>
        <p:blipFill>
          <a:blip r:embed="rId3"/>
          <a:stretch>
            <a:fillRect/>
          </a:stretch>
        </p:blipFill>
        <p:spPr>
          <a:xfrm>
            <a:off x="4964139" y="239900"/>
            <a:ext cx="5886450" cy="1237927"/>
          </a:xfrm>
          <a:prstGeom prst="rect">
            <a:avLst/>
          </a:prstGeom>
        </p:spPr>
      </p:pic>
    </p:spTree>
    <p:extLst>
      <p:ext uri="{BB962C8B-B14F-4D97-AF65-F5344CB8AC3E}">
        <p14:creationId xmlns:p14="http://schemas.microsoft.com/office/powerpoint/2010/main" val="1500437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E2F41-D322-E3C7-BBF6-7958750151C8}"/>
              </a:ext>
            </a:extLst>
          </p:cNvPr>
          <p:cNvSpPr>
            <a:spLocks noGrp="1"/>
          </p:cNvSpPr>
          <p:nvPr>
            <p:ph type="title"/>
          </p:nvPr>
        </p:nvSpPr>
        <p:spPr>
          <a:xfrm>
            <a:off x="5850100" y="529418"/>
            <a:ext cx="5447250" cy="1645920"/>
          </a:xfrm>
        </p:spPr>
        <p:txBody>
          <a:bodyPr>
            <a:normAutofit/>
          </a:bodyPr>
          <a:lstStyle/>
          <a:p>
            <a:r>
              <a:rPr lang="en-US"/>
              <a:t>Challenges </a:t>
            </a:r>
          </a:p>
        </p:txBody>
      </p:sp>
      <p:sp>
        <p:nvSpPr>
          <p:cNvPr id="2057" name="Rectangle 2056">
            <a:extLst>
              <a:ext uri="{FF2B5EF4-FFF2-40B4-BE49-F238E27FC236}">
                <a16:creationId xmlns:a16="http://schemas.microsoft.com/office/drawing/2014/main" id="{3FC67B06-867A-4D0B-8E72-3D1CBBABF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526142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742DA6F1-EE0D-4BF0-B5FE-BF303A6B8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126" y="643464"/>
            <a:ext cx="3969458" cy="5571072"/>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US"/>
          </a:p>
        </p:txBody>
      </p:sp>
      <p:pic>
        <p:nvPicPr>
          <p:cNvPr id="2052" name="Picture 4" descr="A computer on a snowy area&#10;&#10;Description automatically generated">
            <a:extLst>
              <a:ext uri="{FF2B5EF4-FFF2-40B4-BE49-F238E27FC236}">
                <a16:creationId xmlns:a16="http://schemas.microsoft.com/office/drawing/2014/main" id="{A80B6735-1B60-CC24-C613-EA7EFA0A44E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47669"/>
          <a:stretch/>
        </p:blipFill>
        <p:spPr bwMode="auto">
          <a:xfrm>
            <a:off x="820198" y="809244"/>
            <a:ext cx="3639312" cy="253932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A screenshot of a computer&#10;&#10;Description automatically generated">
            <a:extLst>
              <a:ext uri="{FF2B5EF4-FFF2-40B4-BE49-F238E27FC236}">
                <a16:creationId xmlns:a16="http://schemas.microsoft.com/office/drawing/2014/main" id="{3D4916BA-4AF8-4DEE-872F-7C3359DE56F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0176" b="-3"/>
          <a:stretch/>
        </p:blipFill>
        <p:spPr bwMode="auto">
          <a:xfrm>
            <a:off x="820198" y="3509431"/>
            <a:ext cx="3639312" cy="253932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FAB4392-15F3-6886-96B3-7A1A4F65FA85}"/>
              </a:ext>
            </a:extLst>
          </p:cNvPr>
          <p:cNvSpPr>
            <a:spLocks noGrp="1"/>
          </p:cNvSpPr>
          <p:nvPr>
            <p:ph idx="1"/>
          </p:nvPr>
        </p:nvSpPr>
        <p:spPr>
          <a:xfrm>
            <a:off x="5775649" y="2175338"/>
            <a:ext cx="5596153" cy="4039197"/>
          </a:xfrm>
        </p:spPr>
        <p:txBody>
          <a:bodyPr vert="horz" lIns="91440" tIns="45720" rIns="91440" bIns="45720" rtlCol="0">
            <a:normAutofit lnSpcReduction="10000"/>
          </a:bodyPr>
          <a:lstStyle/>
          <a:p>
            <a:pPr>
              <a:lnSpc>
                <a:spcPct val="200000"/>
              </a:lnSpc>
            </a:pPr>
            <a:r>
              <a:rPr lang="en-US"/>
              <a:t>Busy Airwaves – Large Captures! </a:t>
            </a:r>
          </a:p>
          <a:p>
            <a:pPr lvl="1">
              <a:lnSpc>
                <a:spcPct val="200000"/>
              </a:lnSpc>
            </a:pPr>
            <a:r>
              <a:rPr lang="en-US"/>
              <a:t>45 minutes; 3,000,000 Packets!</a:t>
            </a:r>
          </a:p>
          <a:p>
            <a:pPr>
              <a:lnSpc>
                <a:spcPct val="200000"/>
              </a:lnSpc>
            </a:pPr>
            <a:r>
              <a:rPr lang="en-US"/>
              <a:t>Isolated Captures</a:t>
            </a:r>
          </a:p>
          <a:p>
            <a:pPr lvl="1">
              <a:lnSpc>
                <a:spcPct val="200000"/>
              </a:lnSpc>
            </a:pPr>
            <a:r>
              <a:rPr lang="en-US"/>
              <a:t>Diminished Battery Life</a:t>
            </a:r>
          </a:p>
          <a:p>
            <a:pPr>
              <a:lnSpc>
                <a:spcPct val="200000"/>
              </a:lnSpc>
            </a:pPr>
            <a:r>
              <a:rPr lang="en-US"/>
              <a:t>Processing &amp; Memory	</a:t>
            </a:r>
          </a:p>
          <a:p>
            <a:pPr lvl="1">
              <a:lnSpc>
                <a:spcPct val="200000"/>
              </a:lnSpc>
            </a:pPr>
            <a:r>
              <a:rPr lang="en-US"/>
              <a:t>Python can be inefficient – cache calculations!</a:t>
            </a:r>
          </a:p>
          <a:p>
            <a:pPr lvl="1">
              <a:lnSpc>
                <a:spcPct val="200000"/>
              </a:lnSpc>
            </a:pPr>
            <a:r>
              <a:rPr lang="en-US"/>
              <a:t>How to store this cache: Apache Avro</a:t>
            </a:r>
          </a:p>
          <a:p>
            <a:pPr lvl="1">
              <a:lnSpc>
                <a:spcPct val="200000"/>
              </a:lnSpc>
            </a:pPr>
            <a:endParaRPr lang="en-US"/>
          </a:p>
          <a:p>
            <a:pPr lvl="1">
              <a:lnSpc>
                <a:spcPct val="200000"/>
              </a:lnSpc>
            </a:pPr>
            <a:endParaRPr lang="en-US"/>
          </a:p>
          <a:p>
            <a:pPr lvl="1">
              <a:lnSpc>
                <a:spcPct val="200000"/>
              </a:lnSpc>
            </a:pPr>
            <a:endParaRPr lang="en-US"/>
          </a:p>
          <a:p>
            <a:pPr>
              <a:lnSpc>
                <a:spcPct val="200000"/>
              </a:lnSpc>
            </a:pPr>
            <a:endParaRPr lang="en-US"/>
          </a:p>
        </p:txBody>
      </p:sp>
      <p:pic>
        <p:nvPicPr>
          <p:cNvPr id="2054" name="Picture 6" descr="Apache Avro Logo 2023">
            <a:extLst>
              <a:ext uri="{FF2B5EF4-FFF2-40B4-BE49-F238E27FC236}">
                <a16:creationId xmlns:a16="http://schemas.microsoft.com/office/drawing/2014/main" id="{9A344CD8-DCD4-B965-3C16-0A5605B6BA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41374" y="4268082"/>
            <a:ext cx="2095500" cy="733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4993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07" name="Rectangle 3106">
            <a:extLst>
              <a:ext uri="{FF2B5EF4-FFF2-40B4-BE49-F238E27FC236}">
                <a16:creationId xmlns:a16="http://schemas.microsoft.com/office/drawing/2014/main" id="{5F6306EB-203B-4A48-8CDF-23DD52F037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7370" y="0"/>
            <a:ext cx="435463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8" name="Rectangle 3107">
            <a:extLst>
              <a:ext uri="{FF2B5EF4-FFF2-40B4-BE49-F238E27FC236}">
                <a16:creationId xmlns:a16="http://schemas.microsoft.com/office/drawing/2014/main" id="{17801EC8-B630-4BF4-841D-CDE9A180C5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7744" y="237744"/>
            <a:ext cx="7652977"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26114CE-5493-65DF-608B-9CACC5104E71}"/>
              </a:ext>
            </a:extLst>
          </p:cNvPr>
          <p:cNvSpPr>
            <a:spLocks noGrp="1"/>
          </p:cNvSpPr>
          <p:nvPr>
            <p:ph type="title"/>
          </p:nvPr>
        </p:nvSpPr>
        <p:spPr>
          <a:xfrm>
            <a:off x="868680" y="642593"/>
            <a:ext cx="6281928" cy="1744183"/>
          </a:xfrm>
        </p:spPr>
        <p:txBody>
          <a:bodyPr vert="horz" lIns="91440" tIns="45720" rIns="91440" bIns="45720" rtlCol="0" anchor="ctr">
            <a:normAutofit/>
          </a:bodyPr>
          <a:lstStyle/>
          <a:p>
            <a:r>
              <a:rPr lang="en-US"/>
              <a:t>Next Steps</a:t>
            </a:r>
          </a:p>
        </p:txBody>
      </p:sp>
      <p:sp>
        <p:nvSpPr>
          <p:cNvPr id="13" name="TextBox 12">
            <a:extLst>
              <a:ext uri="{FF2B5EF4-FFF2-40B4-BE49-F238E27FC236}">
                <a16:creationId xmlns:a16="http://schemas.microsoft.com/office/drawing/2014/main" id="{E2B76E84-89DB-FFD7-0D73-6369BA1FF432}"/>
              </a:ext>
            </a:extLst>
          </p:cNvPr>
          <p:cNvSpPr txBox="1"/>
          <p:nvPr/>
        </p:nvSpPr>
        <p:spPr>
          <a:xfrm>
            <a:off x="868680" y="2071512"/>
            <a:ext cx="6851765" cy="4143895"/>
          </a:xfrm>
          <a:prstGeom prst="rect">
            <a:avLst/>
          </a:prstGeom>
        </p:spPr>
        <p:txBody>
          <a:bodyPr vert="horz" lIns="91440" tIns="45720" rIns="91440" bIns="45720" rtlCol="0" anchor="t">
            <a:normAutofit fontScale="92500" lnSpcReduction="10000"/>
          </a:bodyPr>
          <a:lstStyle/>
          <a:p>
            <a:pPr marL="285750" indent="-182880">
              <a:lnSpc>
                <a:spcPct val="150000"/>
              </a:lnSpc>
              <a:spcAft>
                <a:spcPts val="600"/>
              </a:spcAft>
              <a:buClr>
                <a:schemeClr val="tx1">
                  <a:lumMod val="85000"/>
                  <a:lumOff val="15000"/>
                </a:schemeClr>
              </a:buClr>
              <a:buFont typeface="Garamond" pitchFamily="18" charset="0"/>
              <a:buChar char="◦"/>
            </a:pPr>
            <a:r>
              <a:rPr lang="en-US" dirty="0"/>
              <a:t>Improve processing </a:t>
            </a:r>
            <a:r>
              <a:rPr lang="en-US" dirty="0">
                <a:ea typeface="+mn-lt"/>
                <a:cs typeface="+mn-lt"/>
              </a:rPr>
              <a:t>efficiency </a:t>
            </a:r>
            <a:r>
              <a:rPr lang="en-US" dirty="0"/>
              <a:t>and portability</a:t>
            </a:r>
          </a:p>
          <a:p>
            <a:pPr marL="742950" lvl="1" indent="-182880">
              <a:lnSpc>
                <a:spcPct val="150000"/>
              </a:lnSpc>
              <a:spcAft>
                <a:spcPts val="600"/>
              </a:spcAft>
              <a:buClr>
                <a:schemeClr val="tx1">
                  <a:lumMod val="85000"/>
                  <a:lumOff val="15000"/>
                </a:schemeClr>
              </a:buClr>
              <a:buFont typeface="Garamond" pitchFamily="18" charset="0"/>
              <a:buChar char="◦"/>
            </a:pPr>
            <a:r>
              <a:rPr lang="en-US" dirty="0"/>
              <a:t>Embedded programming with Zig</a:t>
            </a:r>
          </a:p>
          <a:p>
            <a:pPr marL="285750" indent="-182880">
              <a:lnSpc>
                <a:spcPct val="150000"/>
              </a:lnSpc>
              <a:spcAft>
                <a:spcPts val="600"/>
              </a:spcAft>
              <a:buClr>
                <a:schemeClr val="tx1">
                  <a:lumMod val="85000"/>
                  <a:lumOff val="15000"/>
                </a:schemeClr>
              </a:buClr>
              <a:buFont typeface="Garamond" pitchFamily="18" charset="0"/>
              <a:buChar char="◦"/>
            </a:pPr>
            <a:r>
              <a:rPr lang="en-US" dirty="0"/>
              <a:t>Track devices over time</a:t>
            </a:r>
          </a:p>
          <a:p>
            <a:pPr marL="285750" indent="-182880">
              <a:lnSpc>
                <a:spcPct val="150000"/>
              </a:lnSpc>
              <a:spcAft>
                <a:spcPts val="600"/>
              </a:spcAft>
              <a:buClr>
                <a:schemeClr val="tx1">
                  <a:lumMod val="85000"/>
                  <a:lumOff val="15000"/>
                </a:schemeClr>
              </a:buClr>
              <a:buFont typeface="Garamond" pitchFamily="18" charset="0"/>
              <a:buChar char="◦"/>
            </a:pPr>
            <a:r>
              <a:rPr lang="en-US" dirty="0"/>
              <a:t>Develop an IDS</a:t>
            </a:r>
          </a:p>
          <a:p>
            <a:pPr marL="742950" lvl="1" indent="-182880">
              <a:lnSpc>
                <a:spcPct val="150000"/>
              </a:lnSpc>
              <a:spcAft>
                <a:spcPts val="600"/>
              </a:spcAft>
              <a:buClr>
                <a:schemeClr val="tx1">
                  <a:lumMod val="85000"/>
                  <a:lumOff val="15000"/>
                </a:schemeClr>
              </a:buClr>
              <a:buFont typeface="Garamond" pitchFamily="18" charset="0"/>
              <a:buChar char="◦"/>
            </a:pPr>
            <a:r>
              <a:rPr lang="en-US" dirty="0"/>
              <a:t>Unpermitted device</a:t>
            </a:r>
          </a:p>
          <a:p>
            <a:pPr marL="742950" lvl="1" indent="-182880">
              <a:lnSpc>
                <a:spcPct val="150000"/>
              </a:lnSpc>
              <a:spcAft>
                <a:spcPts val="600"/>
              </a:spcAft>
              <a:buClr>
                <a:schemeClr val="tx1">
                  <a:lumMod val="85000"/>
                  <a:lumOff val="15000"/>
                </a:schemeClr>
              </a:buClr>
              <a:buFont typeface="Garamond" pitchFamily="18" charset="0"/>
              <a:buChar char="◦"/>
            </a:pPr>
            <a:r>
              <a:rPr lang="en-US" dirty="0"/>
              <a:t>Anomalous Behavior</a:t>
            </a:r>
          </a:p>
          <a:p>
            <a:pPr marL="285750" indent="-182880">
              <a:lnSpc>
                <a:spcPct val="150000"/>
              </a:lnSpc>
              <a:spcAft>
                <a:spcPts val="600"/>
              </a:spcAft>
              <a:buClr>
                <a:schemeClr val="tx1">
                  <a:lumMod val="85000"/>
                  <a:lumOff val="15000"/>
                </a:schemeClr>
              </a:buClr>
              <a:buFont typeface="Garamond" pitchFamily="18" charset="0"/>
              <a:buChar char="◦"/>
            </a:pPr>
            <a:r>
              <a:rPr lang="en-US" dirty="0"/>
              <a:t>Make Privacy Recommendations</a:t>
            </a:r>
          </a:p>
          <a:p>
            <a:pPr marL="742950" lvl="1" indent="-182880">
              <a:lnSpc>
                <a:spcPct val="150000"/>
              </a:lnSpc>
              <a:spcAft>
                <a:spcPts val="600"/>
              </a:spcAft>
              <a:buClr>
                <a:schemeClr val="tx1">
                  <a:lumMod val="85000"/>
                  <a:lumOff val="15000"/>
                </a:schemeClr>
              </a:buClr>
              <a:buFont typeface="Garamond" pitchFamily="18" charset="0"/>
              <a:buChar char="◦"/>
            </a:pPr>
            <a:r>
              <a:rPr lang="en-US" dirty="0"/>
              <a:t>Turn Bluetooth off </a:t>
            </a:r>
          </a:p>
          <a:p>
            <a:pPr marL="742950" lvl="1" indent="-182880">
              <a:lnSpc>
                <a:spcPct val="150000"/>
              </a:lnSpc>
              <a:spcAft>
                <a:spcPts val="600"/>
              </a:spcAft>
              <a:buClr>
                <a:schemeClr val="tx1">
                  <a:lumMod val="85000"/>
                  <a:lumOff val="15000"/>
                </a:schemeClr>
              </a:buClr>
              <a:buFont typeface="Garamond" pitchFamily="18" charset="0"/>
              <a:buChar char="◦"/>
            </a:pPr>
            <a:r>
              <a:rPr lang="en-US" dirty="0"/>
              <a:t>Do not advertise manufacturer ID</a:t>
            </a:r>
          </a:p>
          <a:p>
            <a:pPr marL="742950" lvl="1" indent="-182880">
              <a:lnSpc>
                <a:spcPct val="150000"/>
              </a:lnSpc>
              <a:spcAft>
                <a:spcPts val="600"/>
              </a:spcAft>
              <a:buClr>
                <a:schemeClr val="tx1">
                  <a:lumMod val="85000"/>
                  <a:lumOff val="15000"/>
                </a:schemeClr>
              </a:buClr>
              <a:buFont typeface="Garamond" pitchFamily="18" charset="0"/>
              <a:buChar char="◦"/>
            </a:pPr>
            <a:endParaRPr lang="en-US"/>
          </a:p>
        </p:txBody>
      </p:sp>
      <p:pic>
        <p:nvPicPr>
          <p:cNvPr id="3094" name="Picture 22" descr="AirPods pairing process">
            <a:extLst>
              <a:ext uri="{FF2B5EF4-FFF2-40B4-BE49-F238E27FC236}">
                <a16:creationId xmlns:a16="http://schemas.microsoft.com/office/drawing/2014/main" id="{FCB91BB4-18B9-4ACC-3B3D-8EDAF29171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448" r="17073" b="-1"/>
          <a:stretch/>
        </p:blipFill>
        <p:spPr bwMode="auto">
          <a:xfrm>
            <a:off x="8386170" y="484632"/>
            <a:ext cx="3318953" cy="2790023"/>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descr="r/Zig icon">
            <a:extLst>
              <a:ext uri="{FF2B5EF4-FFF2-40B4-BE49-F238E27FC236}">
                <a16:creationId xmlns:a16="http://schemas.microsoft.com/office/drawing/2014/main" id="{518F0A31-A589-B28B-620A-3DC9FA45668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027" r="-3" b="7964"/>
          <a:stretch/>
        </p:blipFill>
        <p:spPr bwMode="auto">
          <a:xfrm>
            <a:off x="8386170" y="3435522"/>
            <a:ext cx="3321198" cy="2790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00618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772</Words>
  <Application>Microsoft Office PowerPoint</Application>
  <PresentationFormat>Widescreen</PresentationFormat>
  <Paragraphs>120</Paragraphs>
  <Slides>12</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Century Gothic</vt:lpstr>
      <vt:lpstr>Courier New</vt:lpstr>
      <vt:lpstr>Courier New,monospace</vt:lpstr>
      <vt:lpstr>Garamond</vt:lpstr>
      <vt:lpstr>Savon</vt:lpstr>
      <vt:lpstr>Bluetooth LE fingerprinting</vt:lpstr>
      <vt:lpstr>Table of Contents</vt:lpstr>
      <vt:lpstr>Bluetooth Low Energy, What is it?</vt:lpstr>
      <vt:lpstr>Previous Work &amp; Publications</vt:lpstr>
      <vt:lpstr>Spring 2023:  Device data capture with Kismet / Wireshark </vt:lpstr>
      <vt:lpstr>Fall 2023:  Parsing device data &amp; First attempt at device identification</vt:lpstr>
      <vt:lpstr>Related Works: </vt:lpstr>
      <vt:lpstr>Data Collection</vt:lpstr>
      <vt:lpstr>Data Analysis </vt:lpstr>
      <vt:lpstr>Findings</vt:lpstr>
      <vt:lpstr>Challenges </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Munger</dc:creator>
  <cp:lastModifiedBy>Ryan Munger1</cp:lastModifiedBy>
  <cp:revision>41</cp:revision>
  <dcterms:created xsi:type="dcterms:W3CDTF">2024-03-28T18:38:36Z</dcterms:created>
  <dcterms:modified xsi:type="dcterms:W3CDTF">2024-03-29T03:50:35Z</dcterms:modified>
</cp:coreProperties>
</file>